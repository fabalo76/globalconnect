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6d64e9e57d4d91" /><Relationship Type="http://schemas.openxmlformats.org/officeDocument/2006/relationships/extended-properties" Target="/docProps/app.xml" Id="R6e18ed27f8fc47e5" /><Relationship Type="http://schemas.openxmlformats.org/officeDocument/2006/relationships/officeDocument" Target="/ppt/presentation.xml" Id="R0a8dd223064f4c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b8396642464ac8"/>
  </p:sldMasterIdLst>
  <p:notesMasterIdLst>
    <p:notesMasterId xmlns:r="http://schemas.openxmlformats.org/officeDocument/2006/relationships" r:id="R7859b76d08ee4492"/>
  </p:notesMasterIdLst>
  <p:sldIdLst>
    <p:sldId xmlns:r="http://schemas.openxmlformats.org/officeDocument/2006/relationships" id="256" r:id="R0ec73d3c75cf420a"/>
    <p:sldId xmlns:r="http://schemas.openxmlformats.org/officeDocument/2006/relationships" id="257" r:id="Rc138c62aac724bf4"/>
    <p:sldId xmlns:r="http://schemas.openxmlformats.org/officeDocument/2006/relationships" id="258" r:id="Rb1c670e92ffb4397"/>
    <p:sldId xmlns:r="http://schemas.openxmlformats.org/officeDocument/2006/relationships" id="259" r:id="Rfc5c6d1577d440a8"/>
    <p:sldId xmlns:r="http://schemas.openxmlformats.org/officeDocument/2006/relationships" id="260" r:id="R6e729b6f8a6b4cfe"/>
    <p:sldId xmlns:r="http://schemas.openxmlformats.org/officeDocument/2006/relationships" id="261" r:id="R3cec7bd1b9d6402d"/>
    <p:sldId xmlns:r="http://schemas.openxmlformats.org/officeDocument/2006/relationships" id="262" r:id="Re5a25b38abb24f8c"/>
    <p:sldId xmlns:r="http://schemas.openxmlformats.org/officeDocument/2006/relationships" id="263" r:id="Rac10295496514b09"/>
    <p:sldId xmlns:r="http://schemas.openxmlformats.org/officeDocument/2006/relationships" id="264" r:id="R4b529dbe8f664445"/>
    <p:sldId xmlns:r="http://schemas.openxmlformats.org/officeDocument/2006/relationships" id="265" r:id="Rde7b5707938644db"/>
    <p:sldId xmlns:r="http://schemas.openxmlformats.org/officeDocument/2006/relationships" id="266" r:id="R579fb15845cc4a47"/>
    <p:sldId xmlns:r="http://schemas.openxmlformats.org/officeDocument/2006/relationships" id="267" r:id="R9c34eef56ee34dd0"/>
    <p:sldId xmlns:r="http://schemas.openxmlformats.org/officeDocument/2006/relationships" id="268" r:id="R96103d29ae6e4c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c5e7dc6df74caf" /><Relationship Type="http://schemas.openxmlformats.org/officeDocument/2006/relationships/slideMaster" Target="/ppt/slideMasters/slideMaster1.xml" Id="R85b8396642464ac8" /><Relationship Type="http://schemas.openxmlformats.org/officeDocument/2006/relationships/notesMaster" Target="/ppt/notesMasters/notesMaster1.xml" Id="R7859b76d08ee4492" /><Relationship Type="http://schemas.openxmlformats.org/officeDocument/2006/relationships/presProps" Target="/ppt/presProps.xml" Id="R878369a152f740d0" /><Relationship Type="http://schemas.openxmlformats.org/officeDocument/2006/relationships/tableStyles" Target="/ppt/tableStyles.xml" Id="Rd1c2dbb1a6e74380" /><Relationship Type="http://schemas.openxmlformats.org/officeDocument/2006/relationships/slide" Target="/ppt/slides/slide1.xml" Id="R0ec73d3c75cf420a" /><Relationship Type="http://schemas.openxmlformats.org/officeDocument/2006/relationships/slide" Target="/ppt/slides/slide2.xml" Id="Rc138c62aac724bf4" /><Relationship Type="http://schemas.openxmlformats.org/officeDocument/2006/relationships/slide" Target="/ppt/slides/slide3.xml" Id="Rb1c670e92ffb4397" /><Relationship Type="http://schemas.openxmlformats.org/officeDocument/2006/relationships/slide" Target="/ppt/slides/slide4.xml" Id="Rfc5c6d1577d440a8" /><Relationship Type="http://schemas.openxmlformats.org/officeDocument/2006/relationships/slide" Target="/ppt/slides/slide5.xml" Id="R6e729b6f8a6b4cfe" /><Relationship Type="http://schemas.openxmlformats.org/officeDocument/2006/relationships/slide" Target="/ppt/slides/slide6.xml" Id="R3cec7bd1b9d6402d" /><Relationship Type="http://schemas.openxmlformats.org/officeDocument/2006/relationships/slide" Target="/ppt/slides/slide7.xml" Id="Re5a25b38abb24f8c" /><Relationship Type="http://schemas.openxmlformats.org/officeDocument/2006/relationships/slide" Target="/ppt/slides/slide8.xml" Id="Rac10295496514b09" /><Relationship Type="http://schemas.openxmlformats.org/officeDocument/2006/relationships/slide" Target="/ppt/slides/slide9.xml" Id="R4b529dbe8f664445" /><Relationship Type="http://schemas.openxmlformats.org/officeDocument/2006/relationships/slide" Target="/ppt/slides/slide10.xml" Id="Rde7b5707938644db" /><Relationship Type="http://schemas.openxmlformats.org/officeDocument/2006/relationships/slide" Target="/ppt/slides/slide11.xml" Id="R579fb15845cc4a47" /><Relationship Type="http://schemas.openxmlformats.org/officeDocument/2006/relationships/slide" Target="/ppt/slides/slide12.xml" Id="R9c34eef56ee34dd0" /><Relationship Type="http://schemas.openxmlformats.org/officeDocument/2006/relationships/slide" Target="/ppt/slides/slide13.xml" Id="R96103d29ae6e4c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ec9473dcc748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d99d30dd084048" /><Relationship Type="http://schemas.openxmlformats.org/officeDocument/2006/relationships/notesMaster" Target="/ppt/notesMasters/notesMaster1.xml" Id="R2a2c9075b4ae47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93956a255c4dbf" /><Relationship Type="http://schemas.openxmlformats.org/officeDocument/2006/relationships/notesMaster" Target="/ppt/notesMasters/notesMaster1.xml" Id="R9d6622e16a4b42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aaae3f76314129" /><Relationship Type="http://schemas.openxmlformats.org/officeDocument/2006/relationships/notesMaster" Target="/ppt/notesMasters/notesMaster1.xml" Id="R27bbe3d1ad3f4c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7ec6441525418d" /><Relationship Type="http://schemas.openxmlformats.org/officeDocument/2006/relationships/notesMaster" Target="/ppt/notesMasters/notesMaster1.xml" Id="R3fe387b434b44b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609150903f4382" /><Relationship Type="http://schemas.openxmlformats.org/officeDocument/2006/relationships/notesMaster" Target="/ppt/notesMasters/notesMaster1.xml" Id="R89871d1e038b4c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eba72525da4ca3" /><Relationship Type="http://schemas.openxmlformats.org/officeDocument/2006/relationships/notesMaster" Target="/ppt/notesMasters/notesMaster1.xml" Id="Rbf8bba65997d4f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66fac55ba14054" /><Relationship Type="http://schemas.openxmlformats.org/officeDocument/2006/relationships/notesMaster" Target="/ppt/notesMasters/notesMaster1.xml" Id="R2b87d9df370b41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5ec25e09f2481f" /><Relationship Type="http://schemas.openxmlformats.org/officeDocument/2006/relationships/notesMaster" Target="/ppt/notesMasters/notesMaster1.xml" Id="R99cdad09c30d4a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8da49c919b4f02" /><Relationship Type="http://schemas.openxmlformats.org/officeDocument/2006/relationships/notesMaster" Target="/ppt/notesMasters/notesMaster1.xml" Id="R59538160d4f246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81e6cec1e44c29" /><Relationship Type="http://schemas.openxmlformats.org/officeDocument/2006/relationships/notesMaster" Target="/ppt/notesMasters/notesMaster1.xml" Id="R9047787a4cc0487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b74e05e2e094836" /><Relationship Type="http://schemas.openxmlformats.org/officeDocument/2006/relationships/notesMaster" Target="/ppt/notesMasters/notesMaster1.xml" Id="Rfebfa5c7ca3046b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f689c28bb0d46d4" /><Relationship Type="http://schemas.openxmlformats.org/officeDocument/2006/relationships/notesMaster" Target="/ppt/notesMasters/notesMaster1.xml" Id="Rd3588e17df17445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09f5fa81bd249a5" /><Relationship Type="http://schemas.openxmlformats.org/officeDocument/2006/relationships/notesMaster" Target="/ppt/notesMasters/notesMaster1.xml" Id="R94b78101f58d41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https://www.nexgoglobal.com/</a:t>
            </a:r>
          </a:p>
          <a:p xmlns:a="http://schemas.openxmlformats.org/drawingml/2006/main">
            <a:r>
              <a:t>- https://www.fecpos.com/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https://rdap.verisign.com/com/v1/domain/continentalpaytech.com</a:t>
            </a:r>
          </a:p>
          <a:p xmlns:a="http://schemas.openxmlformats.org/drawingml/2006/main">
            <a:r>
              <a:t>- https://rdap.radix.host/rdap/domain/continentalpay.tech</a:t>
            </a:r>
          </a:p>
          <a:p xmlns:a="http://schemas.openxmlformats.org/drawingml/2006/main">
            <a:r>
              <a:t>- https://www.icann.org/rdap/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 flat master derived from the user-supplied interwoven C concept using the built-in image generation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https://www.nexgoglobal.com/</a:t>
            </a:r>
          </a:p>
          <a:p xmlns:a="http://schemas.openxmlformats.org/drawingml/2006/main">
            <a:r>
              <a:t>- https://www.fecpos.com/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https://www.sec.gov/Archives/edgar/data/1029199/000121390025017068/ex211_2.htm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6029585a764d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6b271de5fa4920" /><Relationship Type="http://schemas.openxmlformats.org/officeDocument/2006/relationships/slideLayout" Target="/ppt/slideLayouts/slideLayout1.xml" Id="R2c51bd5987964a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51bd5987964a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cc03087fa74c74" /><Relationship Type="http://schemas.openxmlformats.org/officeDocument/2006/relationships/image" Target="/ppt/media/image.png" Id="R8a617bb1c3b642ae" /><Relationship Type="http://schemas.openxmlformats.org/officeDocument/2006/relationships/notesSlide" Target="/ppt/notesSlides/notesSlide1.xml" Id="Rde778a9eb0644b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9640ee8c94026" /><Relationship Type="http://schemas.openxmlformats.org/officeDocument/2006/relationships/notesSlide" Target="/ppt/notesSlides/notesSlide2.xml" Id="Rf4be2395e73843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3275ebfb3479e" /><Relationship Type="http://schemas.openxmlformats.org/officeDocument/2006/relationships/notesSlide" Target="/ppt/notesSlides/notesSlide3.xml" Id="R89f95e1445f84e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b2376fd384f99" /><Relationship Type="http://schemas.openxmlformats.org/officeDocument/2006/relationships/image" Target="/ppt/media/image2.png" Id="R91fcee2aa6414a49" /><Relationship Type="http://schemas.openxmlformats.org/officeDocument/2006/relationships/notesSlide" Target="/ppt/notesSlides/notesSlide4.xml" Id="R691f7d1946b541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6c69872f9f421f" /><Relationship Type="http://schemas.openxmlformats.org/officeDocument/2006/relationships/image" Target="/ppt/media/image3.png" Id="R3c4ae4a050b240c5" /><Relationship Type="http://schemas.openxmlformats.org/officeDocument/2006/relationships/image" Target="/ppt/media/image4.png" Id="R17023e73abf24984" /><Relationship Type="http://schemas.openxmlformats.org/officeDocument/2006/relationships/notesSlide" Target="/ppt/notesSlides/notesSlide5.xml" Id="Rf0667b0a2c5446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27456cceb401c" /><Relationship Type="http://schemas.openxmlformats.org/officeDocument/2006/relationships/notesSlide" Target="/ppt/notesSlides/notesSlide6.xml" Id="R5cf89ef4291d44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ebec37ef44d60" /><Relationship Type="http://schemas.openxmlformats.org/officeDocument/2006/relationships/notesSlide" Target="/ppt/notesSlides/notesSlide7.xml" Id="R15c61a26e4ba4f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80b580c0041c6" /><Relationship Type="http://schemas.openxmlformats.org/officeDocument/2006/relationships/notesSlide" Target="/ppt/notesSlides/notesSlide8.xml" Id="Re2d15dacb0ed49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253da9e154d98" /><Relationship Type="http://schemas.openxmlformats.org/officeDocument/2006/relationships/notesSlide" Target="/ppt/notesSlides/notesSlide9.xml" Id="Rbaf1769dce774b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73c4ecd1a43d5" /><Relationship Type="http://schemas.openxmlformats.org/officeDocument/2006/relationships/notesSlide" Target="/ppt/notesSlides/notesSlide10.xml" Id="R1c095c096869482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aa13d7b104f31" /><Relationship Type="http://schemas.openxmlformats.org/officeDocument/2006/relationships/image" Target="/ppt/media/image5.png" Id="Rd84c06eae00f4b0f" /><Relationship Type="http://schemas.openxmlformats.org/officeDocument/2006/relationships/image" Target="/ppt/media/image6.png" Id="R86c73272ffec4bc8" /><Relationship Type="http://schemas.openxmlformats.org/officeDocument/2006/relationships/notesSlide" Target="/ppt/notesSlides/notesSlide11.xml" Id="Ra3feb6c2272c427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7d95a84c540b4" /><Relationship Type="http://schemas.openxmlformats.org/officeDocument/2006/relationships/notesSlide" Target="/ppt/notesSlides/notesSlide12.xml" Id="Rb33080eb53bc467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29a9c30a14f79" /><Relationship Type="http://schemas.openxmlformats.org/officeDocument/2006/relationships/image" Target="/ppt/media/image7.png" Id="Rd28e24fba17143df" /><Relationship Type="http://schemas.openxmlformats.org/officeDocument/2006/relationships/notesSlide" Target="/ppt/notesSlides/notesSlide13.xml" Id="R5c34b453ee3841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F2B082-8CAA-45A4-B610-D580328F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405EF5-990A-4306-99C4-E317DC27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617bb1c3b642ae"/>
          <a:stretch xmlns:a="http://schemas.openxmlformats.org/drawingml/2006/main"/>
        </p:blipFill>
        <p:spPr>
          <a:xfrm xmlns:a="http://schemas.openxmlformats.org/drawingml/2006/main">
            <a:off x="7627038" y="952500"/>
            <a:ext cx="3033924" cy="33813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A56C7-B69B-4466-BF86-C6F17517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609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2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CONTINENTAL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C5E93-B6CF-4BA3-993D-05B0FE3F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0A7A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 i="0">
                <a:solidFill>
                  <a:srgbClr val="00A7A5"/>
                </a:solidFill>
                <a:latin typeface="Aptos Display"/>
                <a:ea typeface="Aptos Display"/>
                <a:cs typeface="Aptos Display"/>
              </a:rPr>
              <a:t>PAYMENT TECHNOLOGIES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72F97A-DA9D-4AB1-933F-D0AEF74D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Brand book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CBC636-AB9C-407C-BD11-6CA6D465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DDE9E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DDE9EC"/>
                </a:solidFill>
                <a:latin typeface="Aptos"/>
                <a:ea typeface="Aptos"/>
                <a:cs typeface="Aptos"/>
              </a:rPr>
              <a:t>Continental Payment Technologies, Inc.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BEB5D6-94CA-4530-B4BA-FC13DFAF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F5A623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5A623"/>
                </a:solidFill>
                <a:latin typeface="Aptos"/>
                <a:ea typeface="Aptos"/>
                <a:cs typeface="Aptos"/>
              </a:rPr>
              <a:t>Payment technology across the Americas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2ED8A7-7396-4CCD-8E93-4DBF3527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DDE9EC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DE9EC"/>
                </a:solidFill>
                <a:latin typeface="Aptos"/>
                <a:ea typeface="Aptos"/>
                <a:cs typeface="Aptos"/>
              </a:rPr>
              <a:t>VERSION 1.1  |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1453080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AB600A-F5EA-4F0F-8C43-CC2DC43E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BRAND FOUNDATION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C3BA18-4195-4BCA-BD4F-E98A4490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The brand makes complex commerce feel operationally simple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7614A-77B9-42D6-BEFD-0DF09293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A7904F-2813-4D7A-BB48-27DC78BC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8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20179-675E-46FE-9DA7-E432CB4E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PURPOSE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F115A-9FD6-436B-80CF-2BDE7550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457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Enable payment and self-service programs to operate confidently across the Americas.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4C0A65-6621-4B9C-A98D-0890E15B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24050"/>
            <a:ext cx="3810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15D664-ADB6-4B7F-BF84-12527B99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24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BRAND PROMISE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86DE4C-97DE-434B-8F1F-8FA8967B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717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One accountable technology partner - from device choice to fleet visibility.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CBB105-BF95-42C5-AE8D-0A7A0734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5A62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5A623"/>
                </a:solidFill>
                <a:latin typeface="Aptos"/>
                <a:ea typeface="Aptos"/>
                <a:cs typeface="Aptos"/>
              </a:rPr>
              <a:t>POSITIONING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26A5F4-9806-419B-B628-0B964BDB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814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A regional payment technology company combining devices, kiosks and multi-brand management.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4E8B5B-3095-4765-A851-CA035362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NORTH AMERICA    LATIN AMERICA    CARIBBEAN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8C886E-80A8-4A5A-BB05-A96B6254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CONTINENTAL PAYMENT TECHNOLOGIES  |  BRAND BOOK  |  VERSION 1.1</a:t>
            </a:r>
          </a:p>
        </p:txBody>
      </p:sp>
    </p:spTree>
    <p:extLst>
      <p:ext uri="{BB962C8B-B14F-4D97-AF65-F5344CB8AC3E}">
        <p14:creationId xmlns:p14="http://schemas.microsoft.com/office/powerpoint/2010/main" val="10279354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75217E-DFC2-494E-97F8-BEEBF97E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NAMING SYSTEM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591548-100B-4861-AE90-B698F09D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One consistent company name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13A8DD-AA96-4589-B47F-F84DE9A4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55F4C8-F15A-4BA6-AB43-11952084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8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A1058-4CD8-4844-BAE4-8E46CE39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LEGAL ENTITY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B70FB5-706C-4CAC-B3FB-7EA7455F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Continental Payment Technologies, Inc.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424418-82D0-4289-9F7F-93AC6AF3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5A62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5A623"/>
                </a:solidFill>
                <a:latin typeface="Aptos"/>
                <a:ea typeface="Aptos"/>
                <a:cs typeface="Aptos"/>
              </a:rPr>
              <a:t>PUBLIC BRAND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15905F-1F8B-467D-9550-30E36E95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Continental Payment Technologies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9BE083-AB07-48B8-8987-4A00163B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66900"/>
            <a:ext cx="46672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6A4567-A872-49C0-BAAE-2A66A9EE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47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PRIMARY DOMAIN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F12310-E4D1-4C21-B950-C785852C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2890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continentalpaytech.com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A71D9E-9AEE-433E-B2DE-9F16769E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575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DDE9E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DDE9EC"/>
                </a:solidFill>
                <a:latin typeface="Aptos"/>
                <a:ea typeface="Aptos"/>
                <a:cs typeface="Aptos"/>
              </a:rPr>
              <a:t>firstname.lastname@continentalpaytech.com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A100C6-0F7F-4C6E-B90D-B78D5090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147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DDE9E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DDE9EC"/>
                </a:solidFill>
                <a:latin typeface="Aptos"/>
                <a:ea typeface="Aptos"/>
                <a:cs typeface="Aptos"/>
              </a:rPr>
              <a:t>Primary company website and email domain.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24AD33-06B9-46B0-8343-2A57AD8D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100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SECONDARY  continentalpay.tech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85B93-E8D9-4198-8BD1-9A727837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Approved descriptor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1233E3-4CD6-4BA7-A031-CB593473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Payment devices, kiosks and lifecycle management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A4ADFF-3BF6-4733-90A1-0C26601D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CONTINENTAL PAYMENT TECHNOLOGIES  |  BRAND BOOK  |  VERSION 1.1</a:t>
            </a:r>
          </a:p>
        </p:txBody>
      </p:sp>
    </p:spTree>
    <p:extLst>
      <p:ext uri="{BB962C8B-B14F-4D97-AF65-F5344CB8AC3E}">
        <p14:creationId xmlns:p14="http://schemas.microsoft.com/office/powerpoint/2010/main" val="9980868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87C1CD-751F-4DD8-A98B-8E6913AA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LOGO IDEA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36A57B-4452-40B1-8FB0-A94CBDE6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The symbol expresses connected continental movement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74308-60AF-4D08-B3D5-95CA810F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AA26BB-CF77-4108-B880-1FA913F8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8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fcee2aa6414a49"/>
          <a:stretch xmlns:a="http://schemas.openxmlformats.org/drawingml/2006/main"/>
        </p:blipFill>
        <p:spPr>
          <a:xfrm xmlns:a="http://schemas.openxmlformats.org/drawingml/2006/main">
            <a:off x="1369868" y="2000250"/>
            <a:ext cx="4156364" cy="1714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EEDE5D-4115-4745-8F8E-39FE52B7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206" y="2353437"/>
            <a:ext cx="4531995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4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74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97F16B-BC65-4C10-BF28-91F5D695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206" y="2864739"/>
            <a:ext cx="3486150" cy="464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5" b="1" i="0">
                <a:solidFill>
                  <a:srgbClr val="00A7A5"/>
                </a:solidFill>
                <a:latin typeface="Aptos Display"/>
                <a:ea typeface="Aptos Display"/>
                <a:cs typeface="Aptos Display"/>
              </a:defRPr>
            </a:pPr>
            <a:r>
              <a:rPr sz="2105" b="1" i="0">
                <a:solidFill>
                  <a:srgbClr val="00A7A5"/>
                </a:solidFill>
                <a:latin typeface="Aptos Display"/>
                <a:ea typeface="Aptos Display"/>
                <a:cs typeface="Aptos Display"/>
              </a:rP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9B4AB-1E30-45BE-9C12-13D0ABB9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193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An interwoven 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75E086-3BA0-432D-B9CD-8F02ECA4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A continuous ribbon creates a distinctive C for continental reach, connected operations and long-term partnership.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70AED9-3868-4059-92A6-F2C707EF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Navy and teal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444AFF-7074-49D0-8F8B-583F63CC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005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Navy provides stability; teal carries visible commerce across devices, kiosks and software.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80F608-BBE2-4544-A89D-6BDD24EE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577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F5A62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5A623"/>
                </a:solidFill>
                <a:latin typeface="Aptos"/>
                <a:ea typeface="Aptos"/>
                <a:cs typeface="Aptos"/>
              </a:rPr>
              <a:t>Amber activation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FED3CE-F9D0-4371-AD8A-FE481F81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197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The small accent marks the moment technology becomes a transaction.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5BA529-76CA-4E09-AAC7-0CF25007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CONTINENTAL PAYMENT TECHNOLOGIES  |  BRAND BOOK  |  VERSION 1.1</a:t>
            </a:r>
          </a:p>
        </p:txBody>
      </p:sp>
    </p:spTree>
    <p:extLst>
      <p:ext uri="{BB962C8B-B14F-4D97-AF65-F5344CB8AC3E}">
        <p14:creationId xmlns:p14="http://schemas.microsoft.com/office/powerpoint/2010/main" val="5730509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BB75BD-0D71-4CC2-81DE-41D2A014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LOGO USE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68E609-9A6D-438F-8E4D-ED20AF86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Keep the lockup disciplined, legible and consistent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076B5C-F01B-4B1A-AE7F-48421E40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ED959-D24D-4BB9-89AE-04845CC2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8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FBED0-1AA6-4999-9142-F64C1B44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953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4ae4a050b240c5"/>
          <a:stretch xmlns:a="http://schemas.openxmlformats.org/drawingml/2006/main"/>
        </p:blipFill>
        <p:spPr>
          <a:xfrm xmlns:a="http://schemas.openxmlformats.org/drawingml/2006/main">
            <a:off x="1373909" y="2171700"/>
            <a:ext cx="3348182" cy="1381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F70F8F-E3CF-41C2-9920-7CB53CE1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370" y="2444115"/>
            <a:ext cx="334327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E08F60-A3D3-43EC-B3C7-E9A63041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370" y="282130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52" b="1" i="0">
                <a:solidFill>
                  <a:srgbClr val="00A7A5"/>
                </a:solidFill>
                <a:latin typeface="Aptos Display"/>
                <a:ea typeface="Aptos Display"/>
                <a:cs typeface="Aptos Display"/>
              </a:defRPr>
            </a:pPr>
            <a:r>
              <a:rPr sz="1552" b="1" i="0">
                <a:solidFill>
                  <a:srgbClr val="00A7A5"/>
                </a:solidFill>
                <a:latin typeface="Aptos Display"/>
                <a:ea typeface="Aptos Display"/>
                <a:cs typeface="Aptos Display"/>
              </a:rP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FD9F73-E706-4E1E-A93E-5D8FA33E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24050"/>
            <a:ext cx="4953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023e73abf24984"/>
          <a:stretch xmlns:a="http://schemas.openxmlformats.org/drawingml/2006/main"/>
        </p:blipFill>
        <p:spPr>
          <a:xfrm xmlns:a="http://schemas.openxmlformats.org/drawingml/2006/main">
            <a:off x="6784109" y="2171700"/>
            <a:ext cx="3348182" cy="13811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0DABA3-65D4-4B10-A827-829C671F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570" y="2444115"/>
            <a:ext cx="334327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BED791-FB48-47A1-B996-CC46FE3F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570" y="282130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52" b="1" i="0">
                <a:solidFill>
                  <a:srgbClr val="DDE9EC"/>
                </a:solidFill>
                <a:latin typeface="Aptos Display"/>
                <a:ea typeface="Aptos Display"/>
                <a:cs typeface="Aptos Display"/>
              </a:defRPr>
            </a:pPr>
            <a:r>
              <a:rPr sz="1552" b="1" i="0">
                <a:solidFill>
                  <a:srgbClr val="DDE9EC"/>
                </a:solidFill>
                <a:latin typeface="Aptos Display"/>
                <a:ea typeface="Aptos Display"/>
                <a:cs typeface="Aptos Display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FCD444-63A3-4644-87F5-186043DC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Clear space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2E808B-22FB-42FC-AD6E-3397561B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Keep at least one amber-accent height around every side of the lockup.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C6D00E-8982-4324-95EB-7EF87CE8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81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Minimum size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DBACA0-2033-45FA-9B0B-F59FB1EB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Full lockup: 140 px digital / 32 mm print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Symbol only: 24 px digital / 8 mm print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CA90D3-785E-4BA9-ABD2-A62E065B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Do not stretch, recolor, rotate, add effects or separate the amber accent.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192AF8-1D11-4CEC-9089-FDAB9FF3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CONTINENTAL PAYMENT TECHNOLOGIES  |  BRAND BOOK  |  VERSION 1.1</a:t>
            </a:r>
          </a:p>
        </p:txBody>
      </p:sp>
    </p:spTree>
    <p:extLst>
      <p:ext uri="{BB962C8B-B14F-4D97-AF65-F5344CB8AC3E}">
        <p14:creationId xmlns:p14="http://schemas.microsoft.com/office/powerpoint/2010/main" val="16468623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F1CFBB-57F7-4ADD-9727-9D360F4A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COLOR SYSTEM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624081-FCE0-4AEC-B585-8C5E42AB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Color signals trust, movement and human warmth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9C11E-B691-47DB-8116-2F78B8A6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BFE1FF-F1DD-49B6-AE64-52350F3C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8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69279B-1D32-442A-8C04-265B8B7C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ED530-DAC7-4C92-8C1E-02342BBC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1609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CONTINENTAL NAVY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240756-DA62-4B9F-A02E-A4A3D09B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57600"/>
            <a:ext cx="1609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#0B1F33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E9BB9C-B7B4-43B8-B054-7A991FD3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1609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Trust / primary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9C546C-DF72-4079-807E-65935079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81200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161A23-2BAE-42E9-877D-BD886C05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81350"/>
            <a:ext cx="1609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COMMERCE TEAL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D6DB39-C5E3-443C-8BD7-1FC7B5D0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57600"/>
            <a:ext cx="1609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#00A7A5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955F99-0FC6-4698-9822-E5B2D03D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00500"/>
            <a:ext cx="1609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Movement / digital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C424A1-789B-4ED7-AA46-5C5F0921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251A91-6DF1-4A28-A17B-901B3FE4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81350"/>
            <a:ext cx="1609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ACTIVATION AMBER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B81274-6638-4185-9A60-42EFDDA5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57600"/>
            <a:ext cx="1609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#F5A623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CC3930-3232-40F5-A9A5-115200FF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000500"/>
            <a:ext cx="1609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Energy / accent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8ED19F-D642-4328-B83E-A5AC35B1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81200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9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6F6F9F-CA9D-4035-921E-0832DF9A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81350"/>
            <a:ext cx="1609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OPEN WHITE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404D45-5DA2-4B8B-85CF-A6D3CE4A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57600"/>
            <a:ext cx="1609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#FFFFFF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2998F6-91C3-472D-8EF9-29E34D67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00500"/>
            <a:ext cx="1609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Clarity / space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B34539-B400-4D01-AEF2-67C9D3AD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981200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405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797045-C334-43A7-85AE-7A5FE4D3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81350"/>
            <a:ext cx="1609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OPERATIONS SLATE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B212D1-B56D-4D06-BE6E-0A97B497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57600"/>
            <a:ext cx="1609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#405466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A4530D-1D0D-4326-A416-C8743795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000500"/>
            <a:ext cx="1609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Body / utility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55A195-9E8C-4701-B899-FA12D145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Recommended balance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E2F004-1F4A-486A-942B-FFF57E41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650C4F-23B3-4DE3-8A52-19839872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2197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6C0AFC-35DB-4B6B-8009-91F88510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2197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481BB0-1C94-4264-974F-299546C1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21970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9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5045A0-9BF2-430C-8D93-1A1C8595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55% navy   25% teal   10% amber   10% white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1A0601-332C-4197-A858-01E0EF40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CONTINENTAL PAYMENT TECHNOLOGIES  |  BRAND BOOK  |  VERSION 1.1</a:t>
            </a:r>
          </a:p>
        </p:txBody>
      </p:sp>
    </p:spTree>
    <p:extLst>
      <p:ext uri="{BB962C8B-B14F-4D97-AF65-F5344CB8AC3E}">
        <p14:creationId xmlns:p14="http://schemas.microsoft.com/office/powerpoint/2010/main" val="20160249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228E26-4A63-4E6C-94BE-E70AB964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TYPOGRAPHY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D6B355-9C7D-4DD5-B97D-B44E7E8D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Typography stays technical without feeling cold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8479C5-29BD-4072-B146-DD04CA88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13C8BC-0028-40C5-9098-61EA15B7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8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59558-C318-4D89-AF6F-88F8E87C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81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Aptos Display Semibold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F8C4B-E851-4AE7-AD31-82638B4F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40546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0" i="0">
                <a:solidFill>
                  <a:srgbClr val="405466"/>
                </a:solidFill>
                <a:latin typeface="Aptos Display"/>
                <a:ea typeface="Aptos Display"/>
                <a:cs typeface="Aptos Display"/>
              </a:rPr>
              <a:t>Headlines should be short, decisive and sentence case.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C9B4C3-12BF-48C5-8DB2-B2898F19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184D6F-B122-469C-A62D-AED4C557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0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2250" b="0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Aptos Regular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D23988-C6C4-4F10-99B0-20B5EFAC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571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Use for body copy, proposals, email and product explanations. Favor plain language and generous spacing.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3291AD-10E8-4A9D-A5E9-C188CB86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00250"/>
            <a:ext cx="371475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534D1D-5DA0-4F81-8879-C9473EFE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66950"/>
            <a:ext cx="1714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57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57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CEA432-7A85-4103-8554-2FACF532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909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0123456789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CF537E-C795-43F1-8BB0-A83AAFD3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386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DDE9E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DDE9EC"/>
                </a:solidFill>
                <a:latin typeface="Aptos"/>
                <a:ea typeface="Aptos"/>
                <a:cs typeface="Aptos"/>
              </a:rPr>
              <a:t>Fallback stack</a:t>
            </a:r>
          </a:p>
          <a:p xmlns:a="http://schemas.openxmlformats.org/drawingml/2006/main">
            <a:pPr algn="l">
              <a:buNone/>
              <a:defRPr sz="1275" b="1" i="0">
                <a:solidFill>
                  <a:srgbClr val="DDE9E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DDE9EC"/>
                </a:solidFill>
                <a:latin typeface="Aptos"/>
                <a:ea typeface="Aptos"/>
                <a:cs typeface="Aptos"/>
              </a:rPr>
              <a:t>Arial / Helvetica / sans-serif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DDCFBD-68E8-4DDD-A102-DEF60E1C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Use Courier New only for device IDs, serials and technical code.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4C54E0-4C79-4702-BF8C-1993CC88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CONTINENTAL PAYMENT TECHNOLOGIES  |  BRAND BOOK  |  VERSION 1.1</a:t>
            </a:r>
          </a:p>
        </p:txBody>
      </p:sp>
    </p:spTree>
    <p:extLst>
      <p:ext uri="{BB962C8B-B14F-4D97-AF65-F5344CB8AC3E}">
        <p14:creationId xmlns:p14="http://schemas.microsoft.com/office/powerpoint/2010/main" val="20376380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951663-31D6-4615-A81B-953FFA36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VOICE AND MESSAGING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077C1A-E03A-4E24-880D-C3B69C57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A focused voice earns trust in two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53E85-20B6-46D2-8F94-7623F466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9747C-FF33-4E4A-99C3-C48EFA19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8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02DCD2-FA25-46D2-A5E8-670C942E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DIRECT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3BBDE-5E4F-42B6-B45F-C95F7ADD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24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Lead with the outcome.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52E384-4A38-46A6-850D-0FB2F351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CAPABLE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A0E070-2833-42A3-9C06-15DFC07C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90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Explain the operational path.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F8209B-61B6-477C-BD04-AE37828A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REGION-AWARE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0DA060-05EB-4B0B-82A5-7BFE8572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575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Respect local markets and language.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A7BE96-789F-43AE-84BB-BF03C19F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CALM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311CD3-8C13-48E1-95C6-CFAC70E9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243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Never overstate security or performance.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0FDB27-8B8C-479C-9509-31015142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24050"/>
            <a:ext cx="39433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0BE9A4-AFF7-457F-801C-6B6077D8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66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5A62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5A623"/>
                </a:solidFill>
                <a:latin typeface="Aptos"/>
                <a:ea typeface="Aptos"/>
                <a:cs typeface="Aptos"/>
              </a:rPr>
              <a:t>CORE 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ADA6C4-A618-4163-B609-4A83E00C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47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Payment technology</a:t>
            </a:r>
          </a:p>
          <a:p xmlns:a="http://schemas.openxmlformats.org/drawingml/2006/main">
            <a:pPr algn="l">
              <a:buNone/>
              <a:def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across the Americas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514BA4-F908-4EAF-AE01-ED9EFA25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29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SPANISH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0CEF9A-DA80-46F2-B147-497F88E2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7195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DDE9EC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DDE9EC"/>
                </a:solidFill>
                <a:latin typeface="Aptos"/>
                <a:ea typeface="Aptos"/>
                <a:cs typeface="Aptos"/>
              </a:rPr>
              <a:t>Tecnología de pagos</a:t>
            </a:r>
          </a:p>
          <a:p xmlns:a="http://schemas.openxmlformats.org/drawingml/2006/main">
            <a:pPr algn="l">
              <a:buNone/>
              <a:defRPr sz="1575" b="1" i="0">
                <a:solidFill>
                  <a:srgbClr val="DDE9EC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DDE9EC"/>
                </a:solidFill>
                <a:latin typeface="Aptos"/>
                <a:ea typeface="Aptos"/>
                <a:cs typeface="Aptos"/>
              </a:rPr>
              <a:t>para las Américas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9AA356-BA51-44E0-B112-BC110A03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Prefer: connected, reliable, visible, adaptable. Avoid: revolutionary, frictionless, guaranteed, cheapest.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6C51CD-071B-4413-BE41-4E3A9B51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CONTINENTAL PAYMENT TECHNOLOGIES  |  BRAND BOOK  |  VERSION 1.1</a:t>
            </a:r>
          </a:p>
        </p:txBody>
      </p:sp>
    </p:spTree>
    <p:extLst>
      <p:ext uri="{BB962C8B-B14F-4D97-AF65-F5344CB8AC3E}">
        <p14:creationId xmlns:p14="http://schemas.microsoft.com/office/powerpoint/2010/main" val="20361528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54810B-D2CA-4BF1-9767-1A5662EA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OFFER ARCHITECTURE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A6B3C8-CC4E-4CA3-B296-8CD0C64A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Organize the offer around customer outcomes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0F8B4-9FA7-46AC-B95B-D93185EF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1A5EC-E074-4D8B-8833-E97A48A0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8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4E6337-AE3B-4E7E-BA95-96D93FC6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66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50556E-588E-4DFC-93F4-873A6432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8122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1E679F-914B-48EE-86C4-FEAE16BA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478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Payment devices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3C5565-E58A-479E-8819-E2253AD5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390775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Smart POS / PIN pads / unattended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6A1068-8441-476B-A34A-81605F41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66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77988B-2CE0-44E2-92F7-641585D8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146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EDE19E-86FB-4CD4-BD4D-0C8A59E0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9813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Self-service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C98D1D-9446-400F-9E4D-CE4B49B7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324225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Kiosks / POS / peripherals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43ED6F-E04C-441C-B90E-977F2B3E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66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F933AD-6556-48C2-A3FF-EC946826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4812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MANAGE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A98E8C-0CEC-4386-9DE9-F40AB100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147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Global Connect 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F73B9B-6734-48AF-85CC-B1F3A143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257675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Multi-brand TMS / fleet visibility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128F86-C162-468B-BBC6-2BBDCCA9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066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55D091-747B-4213-8C59-25FF3758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81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895969-1967-4581-A490-7127E521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482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Lifecycle services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E210D5-B1EA-4030-9965-FAF4DB13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191125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Deployment / support / renewal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942B43-DAFD-427E-B77F-3305396C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812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Master brand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2ECE84-7FDF-4B1B-9DCC-AA3C1155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86000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Continental</a:t>
            </a:r>
          </a:p>
          <a:p xmlns:a="http://schemas.openxmlformats.org/drawingml/2006/main">
            <a:pPr algn="l">
              <a:buNone/>
              <a:defRPr sz="172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Payment Technologies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8BD98C-FCAA-4BAB-89DB-8974AE2E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385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A258A0-C808-47D9-835D-5E5DA8BE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242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One commercial relationship.</a:t>
            </a:r>
          </a:p>
          <a:p xmlns:a="http://schemas.openxmlformats.org/drawingml/2006/main">
            <a:pPr algn="l">
              <a:buNone/>
              <a:defRPr sz="1425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Four clear solution families.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79D54B-81AF-4292-ABB4-DE3BA26F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CONTINENTAL PAYMENT TECHNOLOGIES  |  BRAND BOOK  |  VERSION 1.1</a:t>
            </a:r>
          </a:p>
        </p:txBody>
      </p:sp>
    </p:spTree>
    <p:extLst>
      <p:ext uri="{BB962C8B-B14F-4D97-AF65-F5344CB8AC3E}">
        <p14:creationId xmlns:p14="http://schemas.microsoft.com/office/powerpoint/2010/main" val="7953841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F220B1-692C-4F1B-86EB-591851F4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DDE9E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DDE9EC"/>
                </a:solidFill>
                <a:latin typeface="Aptos"/>
                <a:ea typeface="Aptos"/>
                <a:cs typeface="Aptos"/>
              </a:rPr>
              <a:t>PRODUCT BRAND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A98609-1F0A-4698-A399-858E93B1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Global Connect One is the signature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99B52-CFD4-469C-8EAB-BFAE5707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0A195-8FCE-480B-BC14-8BF90CFB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8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DDE9E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DE9E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A55C2-3C12-48E7-BFDE-A3E3EF2C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GLOBAL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97E760-6013-49D1-AE50-D5228D00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525" b="1" i="0">
                <a:solidFill>
                  <a:srgbClr val="00A7A5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 i="0">
                <a:solidFill>
                  <a:srgbClr val="00A7A5"/>
                </a:solidFill>
                <a:latin typeface="Aptos Display"/>
                <a:ea typeface="Aptos Display"/>
                <a:cs typeface="Aptos Display"/>
              </a:rPr>
              <a:t>CONNECT 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0B1B6-F37A-44D3-A8EC-1160F872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DDE9E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DDE9EC"/>
                </a:solidFill>
                <a:latin typeface="Aptos"/>
                <a:ea typeface="Aptos"/>
                <a:cs typeface="Aptos"/>
              </a:rPr>
              <a:t>by Continental Payment Technologies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E7674-FC6D-4863-B926-98CD05BD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66900"/>
            <a:ext cx="4667250" cy="39433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09FF3-0091-47BE-A9AA-09EFB7B8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717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CATEGORY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4C629-FC1B-400A-8080-ABF1ABEB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1935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Multi-brand terminal management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9E16A5-A4C8-43DE-94A1-75C6A8D1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9565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5A62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5A623"/>
                </a:solidFill>
                <a:latin typeface="Aptos"/>
                <a:ea typeface="Aptos"/>
                <a:cs typeface="Aptos"/>
              </a:rPr>
              <a:t>PROMISE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120A8C-C0DC-4D25-8757-0B5C7B3D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433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One operational view across diverse device fleets.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6DE565-6AFC-484A-9B55-814F5FD1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958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Naming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D7357C-1C38-4246-922A-4442911B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86300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First mention: Global Connect One by Continental Payment Technologies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Later mentions: Global Connect 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4AE238-0180-40F3-85A1-7005D537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DDE9E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DDE9EC"/>
                </a:solidFill>
                <a:latin typeface="Aptos"/>
                <a:ea typeface="Aptos"/>
                <a:cs typeface="Aptos"/>
              </a:rPr>
              <a:t>CONTINENTAL PAYMENT TECHNOLOGIES  |  BRAND BOOK  |  VERSION 1.1</a:t>
            </a:r>
          </a:p>
        </p:txBody>
      </p:sp>
    </p:spTree>
    <p:extLst>
      <p:ext uri="{BB962C8B-B14F-4D97-AF65-F5344CB8AC3E}">
        <p14:creationId xmlns:p14="http://schemas.microsoft.com/office/powerpoint/2010/main" val="6364589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57E79A-5FC0-40B9-B4FD-5B071417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BRAND IN USE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DB5CCC-5E89-445F-806E-3318FF47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Applications make the identity tangible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38127-876E-40D2-BC70-5F881079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A2BFCC-E0D0-4BD1-A25D-D321FA71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8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D5FB5-04CA-42ED-BF66-79DC7E2F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1435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9EC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4c06eae00f4b0f"/>
          <a:stretch xmlns:a="http://schemas.openxmlformats.org/drawingml/2006/main"/>
        </p:blipFill>
        <p:spPr>
          <a:xfrm xmlns:a="http://schemas.openxmlformats.org/drawingml/2006/main">
            <a:off x="961379" y="2190750"/>
            <a:ext cx="820442" cy="9144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92C07A-9913-4612-B6A3-652F8F4D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171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Maria Alvarez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D604BF-986B-4ED5-93FE-ED3F790F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514600"/>
            <a:ext cx="333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Regional Sales Director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Continental Payment Technologies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+1 510 555 0142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maria.alvarez@continentalpaytech.com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71E182-95E3-47AC-BA00-8D68ED9A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48577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6E8768-8C06-41CC-AB43-763B9CC6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Payment technology</a:t>
            </a:r>
          </a:p>
          <a:p xmlns:a="http://schemas.openxmlformats.org/drawingml/2006/main">
            <a:pPr algn="l">
              <a:buNone/>
              <a:defRPr sz="19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across the Americas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5F7D56-E3D8-4BE4-AE35-106D4A71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051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continentalpaytech.com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1C9DAA-F7A3-424D-9CFF-20C68ACF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3632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c73272ffec4bc8"/>
          <a:stretch xmlns:a="http://schemas.openxmlformats.org/drawingml/2006/main"/>
        </p:blipFill>
        <p:spPr>
          <a:xfrm xmlns:a="http://schemas.openxmlformats.org/drawingml/2006/main">
            <a:off x="1003394" y="4191000"/>
            <a:ext cx="888812" cy="9906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C98A91-F647-443C-81E2-99386100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2672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GLOBAL CONNECT 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65850C-B2DA-44F9-94AB-0FA850A2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6863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DDE9E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DDE9EC"/>
                </a:solidFill>
                <a:latin typeface="Aptos"/>
                <a:ea typeface="Aptos"/>
                <a:cs typeface="Aptos"/>
              </a:rPr>
              <a:t>Connecting secure device operations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5595BC-BD22-448E-9AD7-5B9BD8C8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57700"/>
            <a:ext cx="1524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28BBA0-E7EE-43BE-80E8-C26339DE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57700"/>
            <a:ext cx="9334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D19D53-EE28-4C01-8402-2333D242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577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DDE9EC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DE9EC"/>
                </a:solidFill>
                <a:latin typeface="Aptos"/>
                <a:ea typeface="Aptos"/>
                <a:cs typeface="Aptos"/>
              </a:rPr>
              <a:t>DEVICE SPLASH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7E1247-130B-4712-B1B3-1F6E62CB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CONTINENTAL PAYMENT TECHNOLOGIES  |  BRAND BOOK  |  VERSION 1.1</a:t>
            </a:r>
          </a:p>
        </p:txBody>
      </p:sp>
    </p:spTree>
    <p:extLst>
      <p:ext uri="{BB962C8B-B14F-4D97-AF65-F5344CB8AC3E}">
        <p14:creationId xmlns:p14="http://schemas.microsoft.com/office/powerpoint/2010/main" val="17691757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B86CBF-0B79-44E4-8D4E-83AA5B6D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42DBFA-D243-46D0-B53E-E0B75E3A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Secure the identity before public launch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F761EB-C236-4933-AEFE-2908886A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14EA9C-50F4-4E2F-A759-82EBADFC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8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03A5A9-A647-4076-B803-1860214B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5A62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5A62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F32866-19AF-45B8-AE5F-CFAE0D80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478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Register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045E87-BEAA-49B6-9140-0371DFA7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669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Acquire continentalpaytech.com as primary and continentalpay.tech as a defensive redirect.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2D1BDB-B020-4293-BC29-E0B97B62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5A62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5A62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3D0234-3D9D-444F-A360-6F2D50C2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479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Clear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9C0DF1-7593-479D-9DA1-E235F5A5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670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Complete California entity, USPTO and international trademark screening.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7127C-EC7C-4288-B750-E5D86F78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5A62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5A62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C332DF-635B-47E1-AB20-C35AAD31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480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Prepare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A17B8B-A10E-4916-848B-3F69B8CB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Create production SVG and EPS masters, then test accessibility and small-size use.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3179E6-6207-4198-860F-5C925A3D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5A62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5A62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105AAB-B96E-46EE-A89C-51A35C45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481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Deploy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CE792F-7CE5-4E81-9213-D1125D69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672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Standardize email, proposals, website, device screens and partner materials.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A99E46-DDB2-4019-8C91-32F01149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3632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656E5F-30B5-481A-B116-49F7F293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Clearance note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767BB4-9433-4422-92A1-8064FB50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5305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A California company named Continental Payment Solutions appears in Euronet's subsidiary list. Counsel should assess similarity risk before filing or spending on launch.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53227C-4F5B-47DE-9CA0-C4CB590A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CONTINENTAL PAYMENT TECHNOLOGIES  |  BRAND BOOK  |  VERSION 1.1</a:t>
            </a:r>
          </a:p>
        </p:txBody>
      </p:sp>
    </p:spTree>
    <p:extLst>
      <p:ext uri="{BB962C8B-B14F-4D97-AF65-F5344CB8AC3E}">
        <p14:creationId xmlns:p14="http://schemas.microsoft.com/office/powerpoint/2010/main" val="16173681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8e24fba17143df"/>
          <a:stretch xmlns:a="http://schemas.openxmlformats.org/drawingml/2006/main"/>
        </p:blipFill>
        <p:spPr>
          <a:xfrm xmlns:a="http://schemas.openxmlformats.org/drawingml/2006/main">
            <a:off x="4848245" y="876300"/>
            <a:ext cx="2495510" cy="2781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CFD30-22B4-48A5-B254-7152BA93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95750"/>
            <a:ext cx="800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Payment technology across the Americas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6838EF-730A-44F1-8789-7FE3F0E2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149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continentalpaytech.com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3C6ED9-917A-4FFD-8A6B-E77CCC02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5816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9C6E8C-8A38-47D3-90D3-A2BA591F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1150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DDE9E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DE9EC"/>
                </a:solidFill>
                <a:latin typeface="Aptos"/>
                <a:ea typeface="Aptos"/>
                <a:cs typeface="Aptos"/>
              </a:rPr>
              <a:t>CONTINENTAL PAYMENT TECHNOLOGIES, INC.</a:t>
            </a:r>
          </a:p>
        </p:txBody>
      </p:sp>
    </p:spTree>
    <p:extLst>
      <p:ext uri="{BB962C8B-B14F-4D97-AF65-F5344CB8AC3E}">
        <p14:creationId xmlns:p14="http://schemas.microsoft.com/office/powerpoint/2010/main" val="10778720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2026-09-11T01:08:42.8160000Z</dcterms:created>
  <dcterms:modified xsi:type="dcterms:W3CDTF">2026-09-11T01:08:42.8170000Z</dcterms:modified>
</coreProperties>
</file>