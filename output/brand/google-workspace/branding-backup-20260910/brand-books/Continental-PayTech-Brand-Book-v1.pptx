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b66d008fd544b7" /><Relationship Type="http://schemas.openxmlformats.org/officeDocument/2006/relationships/extended-properties" Target="/docProps/app.xml" Id="Rb1f8605cf03146cd" /><Relationship Type="http://schemas.openxmlformats.org/officeDocument/2006/relationships/officeDocument" Target="/ppt/presentation.xml" Id="Ra4d7767a147146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372a9831d14b57"/>
  </p:sldMasterIdLst>
  <p:notesMasterIdLst>
    <p:notesMasterId xmlns:r="http://schemas.openxmlformats.org/officeDocument/2006/relationships" r:id="R3423066bc76849bb"/>
  </p:notesMasterIdLst>
  <p:sldIdLst>
    <p:sldId xmlns:r="http://schemas.openxmlformats.org/officeDocument/2006/relationships" id="256" r:id="Rb4a2b90766e44f6e"/>
    <p:sldId xmlns:r="http://schemas.openxmlformats.org/officeDocument/2006/relationships" id="257" r:id="R87a4c97e98124e7a"/>
    <p:sldId xmlns:r="http://schemas.openxmlformats.org/officeDocument/2006/relationships" id="258" r:id="Ra967b4113ceb4a14"/>
    <p:sldId xmlns:r="http://schemas.openxmlformats.org/officeDocument/2006/relationships" id="259" r:id="Rd0b8a427d6e74ecb"/>
    <p:sldId xmlns:r="http://schemas.openxmlformats.org/officeDocument/2006/relationships" id="260" r:id="R0d62aadcda4243d8"/>
    <p:sldId xmlns:r="http://schemas.openxmlformats.org/officeDocument/2006/relationships" id="261" r:id="R538ebdbe9cf24495"/>
    <p:sldId xmlns:r="http://schemas.openxmlformats.org/officeDocument/2006/relationships" id="262" r:id="R6a8f691e002949c8"/>
    <p:sldId xmlns:r="http://schemas.openxmlformats.org/officeDocument/2006/relationships" id="263" r:id="R137024e360ad44a5"/>
    <p:sldId xmlns:r="http://schemas.openxmlformats.org/officeDocument/2006/relationships" id="264" r:id="R2a637fa106aa468f"/>
    <p:sldId xmlns:r="http://schemas.openxmlformats.org/officeDocument/2006/relationships" id="265" r:id="R4ee760e03a724712"/>
    <p:sldId xmlns:r="http://schemas.openxmlformats.org/officeDocument/2006/relationships" id="266" r:id="Rf5cf7bbcc9184ea6"/>
    <p:sldId xmlns:r="http://schemas.openxmlformats.org/officeDocument/2006/relationships" id="267" r:id="R0eb6c42db67240b5"/>
    <p:sldId xmlns:r="http://schemas.openxmlformats.org/officeDocument/2006/relationships" id="268" r:id="R6e16cd92ea594cd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2419c2526a46ed" /><Relationship Type="http://schemas.openxmlformats.org/officeDocument/2006/relationships/slideMaster" Target="/ppt/slideMasters/slideMaster1.xml" Id="R87372a9831d14b57" /><Relationship Type="http://schemas.openxmlformats.org/officeDocument/2006/relationships/notesMaster" Target="/ppt/notesMasters/notesMaster1.xml" Id="R3423066bc76849bb" /><Relationship Type="http://schemas.openxmlformats.org/officeDocument/2006/relationships/presProps" Target="/ppt/presProps.xml" Id="R8fc374c11a14461b" /><Relationship Type="http://schemas.openxmlformats.org/officeDocument/2006/relationships/tableStyles" Target="/ppt/tableStyles.xml" Id="R4f9a1ec0119f4e31" /><Relationship Type="http://schemas.openxmlformats.org/officeDocument/2006/relationships/slide" Target="/ppt/slides/slide1.xml" Id="Rb4a2b90766e44f6e" /><Relationship Type="http://schemas.openxmlformats.org/officeDocument/2006/relationships/slide" Target="/ppt/slides/slide2.xml" Id="R87a4c97e98124e7a" /><Relationship Type="http://schemas.openxmlformats.org/officeDocument/2006/relationships/slide" Target="/ppt/slides/slide3.xml" Id="Ra967b4113ceb4a14" /><Relationship Type="http://schemas.openxmlformats.org/officeDocument/2006/relationships/slide" Target="/ppt/slides/slide4.xml" Id="Rd0b8a427d6e74ecb" /><Relationship Type="http://schemas.openxmlformats.org/officeDocument/2006/relationships/slide" Target="/ppt/slides/slide5.xml" Id="R0d62aadcda4243d8" /><Relationship Type="http://schemas.openxmlformats.org/officeDocument/2006/relationships/slide" Target="/ppt/slides/slide6.xml" Id="R538ebdbe9cf24495" /><Relationship Type="http://schemas.openxmlformats.org/officeDocument/2006/relationships/slide" Target="/ppt/slides/slide7.xml" Id="R6a8f691e002949c8" /><Relationship Type="http://schemas.openxmlformats.org/officeDocument/2006/relationships/slide" Target="/ppt/slides/slide8.xml" Id="R137024e360ad44a5" /><Relationship Type="http://schemas.openxmlformats.org/officeDocument/2006/relationships/slide" Target="/ppt/slides/slide9.xml" Id="R2a637fa106aa468f" /><Relationship Type="http://schemas.openxmlformats.org/officeDocument/2006/relationships/slide" Target="/ppt/slides/slide10.xml" Id="R4ee760e03a724712" /><Relationship Type="http://schemas.openxmlformats.org/officeDocument/2006/relationships/slide" Target="/ppt/slides/slide11.xml" Id="Rf5cf7bbcc9184ea6" /><Relationship Type="http://schemas.openxmlformats.org/officeDocument/2006/relationships/slide" Target="/ppt/slides/slide12.xml" Id="R0eb6c42db67240b5" /><Relationship Type="http://schemas.openxmlformats.org/officeDocument/2006/relationships/slide" Target="/ppt/slides/slide13.xml" Id="R6e16cd92ea594c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8b15d27b2f45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170048fcb54e41" /><Relationship Type="http://schemas.openxmlformats.org/officeDocument/2006/relationships/notesMaster" Target="/ppt/notesMasters/notesMaster1.xml" Id="Rcc6066dfd76c4f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373f37ee74846e9" /><Relationship Type="http://schemas.openxmlformats.org/officeDocument/2006/relationships/notesMaster" Target="/ppt/notesMasters/notesMaster1.xml" Id="R9d36cc46a891416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56fb645934349e5" /><Relationship Type="http://schemas.openxmlformats.org/officeDocument/2006/relationships/notesMaster" Target="/ppt/notesMasters/notesMaster1.xml" Id="R80b1c4b1912c4a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29d6bba2e246e2" /><Relationship Type="http://schemas.openxmlformats.org/officeDocument/2006/relationships/notesMaster" Target="/ppt/notesMasters/notesMaster1.xml" Id="R8cb5f01d908f46c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d497e03388e45d1" /><Relationship Type="http://schemas.openxmlformats.org/officeDocument/2006/relationships/notesMaster" Target="/ppt/notesMasters/notesMaster1.xml" Id="Rde6c71967de943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808e7a3519f401f" /><Relationship Type="http://schemas.openxmlformats.org/officeDocument/2006/relationships/notesMaster" Target="/ppt/notesMasters/notesMaster1.xml" Id="Rcb17c3e81e7444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4eb410364d744ca" /><Relationship Type="http://schemas.openxmlformats.org/officeDocument/2006/relationships/notesMaster" Target="/ppt/notesMasters/notesMaster1.xml" Id="Rb8082fade427470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21f0c5d598f463d" /><Relationship Type="http://schemas.openxmlformats.org/officeDocument/2006/relationships/notesMaster" Target="/ppt/notesMasters/notesMaster1.xml" Id="R690248bd8e9b41f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c1176307d2a4c94" /><Relationship Type="http://schemas.openxmlformats.org/officeDocument/2006/relationships/notesMaster" Target="/ppt/notesMasters/notesMaster1.xml" Id="R29e14151af10472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594f548f4344354" /><Relationship Type="http://schemas.openxmlformats.org/officeDocument/2006/relationships/notesMaster" Target="/ppt/notesMasters/notesMaster1.xml" Id="Raa05207ff80345e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be9aa6424fc4037" /><Relationship Type="http://schemas.openxmlformats.org/officeDocument/2006/relationships/notesMaster" Target="/ppt/notesMasters/notesMaster1.xml" Id="R02ada40c798d4f7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8b3f1e28ea64404" /><Relationship Type="http://schemas.openxmlformats.org/officeDocument/2006/relationships/notesMaster" Target="/ppt/notesMasters/notesMaster1.xml" Id="R96ed2cbf5d69444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53bfdbea70341b7" /><Relationship Type="http://schemas.openxmlformats.org/officeDocument/2006/relationships/notesMaster" Target="/ppt/notesMasters/notesMaster1.xml" Id="Rc16b0d4c2e0643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https://www.nexgoglobal.com/</a:t>
            </a:r>
          </a:p>
          <a:p xmlns:a="http://schemas.openxmlformats.org/drawingml/2006/main">
            <a:r>
              <a:t>- https://www.fecpos.com/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https://rdap.verisign.com/com/v1/domain/continentalpaytech.com</a:t>
            </a:r>
          </a:p>
          <a:p xmlns:a="http://schemas.openxmlformats.org/drawingml/2006/main">
            <a:r>
              <a:t>- https://rdap.radix.host/rdap/domain/continentalpay.tech</a:t>
            </a:r>
          </a:p>
          <a:p xmlns:a="http://schemas.openxmlformats.org/drawingml/2006/main">
            <a:r>
              <a:t>- https://www.icann.org/rdap/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Final flat master derived from the user-supplied interwoven C concept using the built-in image generation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https://www.nexgoglobal.com/</a:t>
            </a:r>
          </a:p>
          <a:p xmlns:a="http://schemas.openxmlformats.org/drawingml/2006/main">
            <a:r>
              <a:t>- https://www.fecpos.com/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https://www.sec.gov/Archives/edgar/data/1029199/000121390025017068/ex211_2.htm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8bcc8c06a045c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0a25159bcb4e8e" /><Relationship Type="http://schemas.openxmlformats.org/officeDocument/2006/relationships/slideLayout" Target="/ppt/slideLayouts/slideLayout1.xml" Id="R80081667a2f044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081667a2f044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70db1a00ee44c7" /><Relationship Type="http://schemas.openxmlformats.org/officeDocument/2006/relationships/image" Target="/ppt/media/image.png" Id="R00bca121c5a7431a" /><Relationship Type="http://schemas.openxmlformats.org/officeDocument/2006/relationships/notesSlide" Target="/ppt/notesSlides/notesSlide1.xml" Id="Rcaa1a4ae2fbd44f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270cff14234540" /><Relationship Type="http://schemas.openxmlformats.org/officeDocument/2006/relationships/notesSlide" Target="/ppt/notesSlides/notesSlide2.xml" Id="Rfdb9e207155a41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93497b3f6747b4" /><Relationship Type="http://schemas.openxmlformats.org/officeDocument/2006/relationships/notesSlide" Target="/ppt/notesSlides/notesSlide3.xml" Id="Rf3d66cafc2f94d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b2ad4d681947ca" /><Relationship Type="http://schemas.openxmlformats.org/officeDocument/2006/relationships/image" Target="/ppt/media/image2.png" Id="R937e646e0d394a56" /><Relationship Type="http://schemas.openxmlformats.org/officeDocument/2006/relationships/notesSlide" Target="/ppt/notesSlides/notesSlide4.xml" Id="Rf319da7bad36428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4c2bb0bfd34473" /><Relationship Type="http://schemas.openxmlformats.org/officeDocument/2006/relationships/image" Target="/ppt/media/image3.png" Id="R9beecc21165546b4" /><Relationship Type="http://schemas.openxmlformats.org/officeDocument/2006/relationships/image" Target="/ppt/media/image4.png" Id="R434e010731154f2c" /><Relationship Type="http://schemas.openxmlformats.org/officeDocument/2006/relationships/notesSlide" Target="/ppt/notesSlides/notesSlide5.xml" Id="Rc4758c5d7d1142d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03a0596d3e43f1" /><Relationship Type="http://schemas.openxmlformats.org/officeDocument/2006/relationships/notesSlide" Target="/ppt/notesSlides/notesSlide6.xml" Id="Rd3770e256e964b6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79bce9089044cc" /><Relationship Type="http://schemas.openxmlformats.org/officeDocument/2006/relationships/notesSlide" Target="/ppt/notesSlides/notesSlide7.xml" Id="R0f04f743f83a4f3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a7f9c710ff45ec" /><Relationship Type="http://schemas.openxmlformats.org/officeDocument/2006/relationships/notesSlide" Target="/ppt/notesSlides/notesSlide8.xml" Id="Ref9cc9c54025488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919458bb9841a7" /><Relationship Type="http://schemas.openxmlformats.org/officeDocument/2006/relationships/notesSlide" Target="/ppt/notesSlides/notesSlide9.xml" Id="R650670bfabd344e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173a50e22c4a81" /><Relationship Type="http://schemas.openxmlformats.org/officeDocument/2006/relationships/notesSlide" Target="/ppt/notesSlides/notesSlide10.xml" Id="R05296a76810e41c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5bd71da45f47aa" /><Relationship Type="http://schemas.openxmlformats.org/officeDocument/2006/relationships/image" Target="/ppt/media/image5.png" Id="Rd1900164c1f545a7" /><Relationship Type="http://schemas.openxmlformats.org/officeDocument/2006/relationships/image" Target="/ppt/media/image6.png" Id="R9509751d29084713" /><Relationship Type="http://schemas.openxmlformats.org/officeDocument/2006/relationships/notesSlide" Target="/ppt/notesSlides/notesSlide11.xml" Id="R98ea1304510149b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0ac54dc254473e" /><Relationship Type="http://schemas.openxmlformats.org/officeDocument/2006/relationships/notesSlide" Target="/ppt/notesSlides/notesSlide12.xml" Id="R2c147e1ce44943a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e937f0bd534759" /><Relationship Type="http://schemas.openxmlformats.org/officeDocument/2006/relationships/image" Target="/ppt/media/image7.png" Id="R861240721e3a498f" /><Relationship Type="http://schemas.openxmlformats.org/officeDocument/2006/relationships/notesSlide" Target="/ppt/notesSlides/notesSlide13.xml" Id="R620fa155139c45e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F2B082-8CAA-45A4-B610-D580328F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405EF5-990A-4306-99C4-E317DC27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bca121c5a7431a"/>
          <a:stretch xmlns:a="http://schemas.openxmlformats.org/drawingml/2006/main"/>
        </p:blipFill>
        <p:spPr>
          <a:xfrm xmlns:a="http://schemas.openxmlformats.org/drawingml/2006/main">
            <a:off x="7627038" y="952500"/>
            <a:ext cx="3033924" cy="33813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FA56C7-B69B-4466-BF86-C6F17517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609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CONTINENTAL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4C5E93-B6CF-4BA3-993D-05B0FE3F0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0A7A5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00A7A5"/>
                </a:solidFill>
                <a:latin typeface="Aptos Display"/>
                <a:ea typeface="Aptos Display"/>
                <a:cs typeface="Aptos Display"/>
              </a:rPr>
              <a:t>PAYTECH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72F97A-DA9D-4AB1-933F-D0AEF74D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Brand book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CBC636-AB9C-407C-BD11-6CA6D465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561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DDE9EC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DDE9EC"/>
                </a:solidFill>
                <a:latin typeface="Aptos"/>
                <a:ea typeface="Aptos"/>
                <a:cs typeface="Aptos"/>
              </a:rPr>
              <a:t>Continental Payment Technologies, Inc.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BEB5D6-94CA-4530-B4BA-FC13DFAF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5A623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5A623"/>
                </a:solidFill>
                <a:latin typeface="Aptos"/>
                <a:ea typeface="Aptos"/>
                <a:cs typeface="Aptos"/>
              </a:rPr>
              <a:t>Payment technology across the Americas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2ED8A7-7396-4CCD-8E93-4DBF3527D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DDE9EC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DDE9EC"/>
                </a:solidFill>
                <a:latin typeface="Aptos"/>
                <a:ea typeface="Aptos"/>
                <a:cs typeface="Aptos"/>
              </a:rPr>
              <a:t>VERSION 1.0  |  AUGUST 2026</a:t>
            </a:r>
          </a:p>
        </p:txBody>
      </p:sp>
    </p:spTree>
    <p:extLst>
      <p:ext uri="{BB962C8B-B14F-4D97-AF65-F5344CB8AC3E}">
        <p14:creationId xmlns:p14="http://schemas.microsoft.com/office/powerpoint/2010/main" val="21453080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AB600A-F5EA-4F0F-8C43-CC2DC43E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BRAND FOUNDATION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EC3BA18-4195-4BCA-BD4F-E98A4490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The brand makes complex commerce feel operationally simple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17614A-77B9-42D6-BEFD-0DF09293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A7904F-2813-4D7A-BB48-27DC78BC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381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220179-675E-46FE-9DA7-E432CB4E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PURPOSE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4F115A-9FD6-436B-80CF-2BDE7550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4572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Enable payment and self-service programs to operate confidently across the Americas.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4C0A65-6621-4B9C-A98D-0890E15B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924050"/>
            <a:ext cx="3810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9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15D664-ADB6-4B7F-BF84-12527B99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2405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BRAND PROMISE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86DE4C-97DE-434B-8F1F-8FA8967B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7170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One accountable technology partner - from device choice to fleet visibility.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CBB105-BF95-42C5-AE8D-0A7A0734B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3375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5A623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5A623"/>
                </a:solidFill>
                <a:latin typeface="Aptos"/>
                <a:ea typeface="Aptos"/>
                <a:cs typeface="Aptos"/>
              </a:rPr>
              <a:t>POSITIONING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26A5F4-9806-419B-B628-0B964BDB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8140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A regional payment technology company combining devices, kiosks and multi-brand management.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4E8B5B-3095-4765-A851-CA035362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NORTH AMERICA    LATIN AMERICA    CARIBBEAN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8C886E-80A8-4A5A-BB05-A96B6254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CONTINENTAL PAYTECH  |  BRAND BOOK  |  VERSION 1.0</a:t>
            </a:r>
          </a:p>
        </p:txBody>
      </p:sp>
    </p:spTree>
    <p:extLst>
      <p:ext uri="{BB962C8B-B14F-4D97-AF65-F5344CB8AC3E}">
        <p14:creationId xmlns:p14="http://schemas.microsoft.com/office/powerpoint/2010/main" val="10279354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75217E-DFC2-494E-97F8-BEEBF97E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NAMING SYSTEM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2591548-100B-4861-AE90-B698F09D3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Use one formal name and one memorable public name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13A8DD-AA96-4589-B47F-F84DE9A4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55F4C8-F15A-4BA6-AB43-11952084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381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3A1058-4CD8-4844-BAE4-8E46CE39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LEGAL ENTITY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B70FB5-706C-4CAC-B3FB-7EA7455F5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Continental Payment Technologies, Inc.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424418-82D0-4289-9F7F-93AC6AF3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5A623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5A623"/>
                </a:solidFill>
                <a:latin typeface="Aptos"/>
                <a:ea typeface="Aptos"/>
                <a:cs typeface="Aptos"/>
              </a:rPr>
              <a:t>PUBLIC BRAND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15905F-1F8B-467D-9550-30E36E95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Continental PayTech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9BE083-AB07-48B8-8987-4A00163B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66900"/>
            <a:ext cx="46672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6A4567-A872-49C0-BAAE-2A66A9EE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47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PRIMARY DOMAIN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F12310-E4D1-4C21-B950-C785852C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628900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continentalpaytech.com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A71D9E-9AEE-433E-B2DE-9F16769E4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575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DE9EC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DDE9EC"/>
                </a:solidFill>
                <a:latin typeface="Aptos"/>
                <a:ea typeface="Aptos"/>
                <a:cs typeface="Aptos"/>
              </a:rPr>
              <a:t>firstname.lastname@continentalpaytech.com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A100C6-0F7F-4C6E-B90D-B78D5090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147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DE9EC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DDE9EC"/>
                </a:solidFill>
                <a:latin typeface="Aptos"/>
                <a:ea typeface="Aptos"/>
                <a:cs typeface="Aptos"/>
              </a:rPr>
              <a:t>Primary enterprise domain. Verisign RDAP returned no registration record on Aug. 10, 2026.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24AD33-06B9-46B0-8343-2A57AD8D6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100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SECONDARY  continentalpay.tech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C85B93-E8D9-4198-8BD1-9A7278370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Approved descriptor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1233E3-4CD6-4BA7-A031-CB593473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Payment devices, kiosks and lifecycle management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A4ADFF-3BF6-4733-90A1-0C26601DF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CONTINENTAL PAYTECH  |  BRAND BOOK  |  VERSION 1.0</a:t>
            </a:r>
          </a:p>
        </p:txBody>
      </p:sp>
    </p:spTree>
    <p:extLst>
      <p:ext uri="{BB962C8B-B14F-4D97-AF65-F5344CB8AC3E}">
        <p14:creationId xmlns:p14="http://schemas.microsoft.com/office/powerpoint/2010/main" val="9980868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87C1CD-751F-4DD8-A98B-8E6913AA7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LOGO IDEA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F36A57B-4452-40B1-8FB0-A94CBDE6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The symbol expresses connected continental movement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274308-60AF-4D08-B3D5-95CA810F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AA26BB-CF77-4108-B880-1FA913F8A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381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7e646e0d394a56"/>
          <a:stretch xmlns:a="http://schemas.openxmlformats.org/drawingml/2006/main"/>
        </p:blipFill>
        <p:spPr>
          <a:xfrm xmlns:a="http://schemas.openxmlformats.org/drawingml/2006/main">
            <a:off x="922314" y="2190750"/>
            <a:ext cx="1209468" cy="134797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EEDE5D-4115-4745-8F8E-39FE52B7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0206" y="2353437"/>
            <a:ext cx="4531995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45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745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CONTINENTAL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97F16B-BC65-4C10-BF28-91F5D695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0206" y="2864739"/>
            <a:ext cx="3486150" cy="464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5" b="1" i="0">
                <a:solidFill>
                  <a:srgbClr val="00A7A5"/>
                </a:solidFill>
                <a:latin typeface="Aptos Display"/>
                <a:ea typeface="Aptos Display"/>
                <a:cs typeface="Aptos Display"/>
              </a:defRPr>
            </a:pPr>
            <a:r>
              <a:rPr sz="2105" b="1" i="0">
                <a:solidFill>
                  <a:srgbClr val="00A7A5"/>
                </a:solidFill>
                <a:latin typeface="Aptos Display"/>
                <a:ea typeface="Aptos Display"/>
                <a:cs typeface="Aptos Display"/>
              </a:rPr>
              <a:t>PAYTECH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09B4AB-1E30-45BE-9C12-13D0ABB9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193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An interwoven 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75E086-3BA0-432D-B9CD-8F02ECA4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193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A continuous ribbon creates a distinctive C for continental reach, connected operations and long-term partnership.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70AED9-3868-4059-92A6-F2C707EF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Navy and teal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444AFF-7074-49D0-8F8B-583F63CC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0050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Navy provides stability; teal carries visible commerce across devices, kiosks and software.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80F608-BBE2-4544-A89D-6BDD24EEE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8577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5A623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5A623"/>
                </a:solidFill>
                <a:latin typeface="Aptos"/>
                <a:ea typeface="Aptos"/>
                <a:cs typeface="Aptos"/>
              </a:rPr>
              <a:t>Amber activation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FED3CE-F9D0-4371-AD8A-FE481F813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21970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The small accent marks the moment technology becomes a transaction.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5BA529-76CA-4E09-AAC7-0CF25007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CONTINENTAL PAYTECH  |  BRAND BOOK  |  VERSION 1.0</a:t>
            </a:r>
          </a:p>
        </p:txBody>
      </p:sp>
    </p:spTree>
    <p:extLst>
      <p:ext uri="{BB962C8B-B14F-4D97-AF65-F5344CB8AC3E}">
        <p14:creationId xmlns:p14="http://schemas.microsoft.com/office/powerpoint/2010/main" val="5730509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BB75BD-0D71-4CC2-81DE-41D2A014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LOGO USE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868E609-9A6D-438F-8E4D-ED20AF86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Keep the lockup disciplined, legible and consistent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076B5C-F01B-4B1A-AE7F-48421E40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AED959-D24D-4BB9-89AE-04845CC23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381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CFBED0-1AA6-4999-9142-F64C1B448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4953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eecc21165546b4"/>
          <a:stretch xmlns:a="http://schemas.openxmlformats.org/drawingml/2006/main"/>
        </p:blipFill>
        <p:spPr>
          <a:xfrm xmlns:a="http://schemas.openxmlformats.org/drawingml/2006/main">
            <a:off x="1100745" y="2324100"/>
            <a:ext cx="892230" cy="99441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F70F8F-E3CF-41C2-9920-7CB53CE1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8370" y="2444115"/>
            <a:ext cx="334327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CONTINENTAL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E08F60-A3D3-43EC-B3C7-E9A63041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8370" y="2821305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52" b="1" i="0">
                <a:solidFill>
                  <a:srgbClr val="00A7A5"/>
                </a:solidFill>
                <a:latin typeface="Aptos Display"/>
                <a:ea typeface="Aptos Display"/>
                <a:cs typeface="Aptos Display"/>
              </a:defRPr>
            </a:pPr>
            <a:r>
              <a:rPr sz="1552" b="1" i="0">
                <a:solidFill>
                  <a:srgbClr val="00A7A5"/>
                </a:solidFill>
                <a:latin typeface="Aptos Display"/>
                <a:ea typeface="Aptos Display"/>
                <a:cs typeface="Aptos Display"/>
              </a:rPr>
              <a:t>PAYTECH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FD9F73-E706-4E1E-A93E-5D8FA33E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24050"/>
            <a:ext cx="4953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4e010731154f2c"/>
          <a:stretch xmlns:a="http://schemas.openxmlformats.org/drawingml/2006/main"/>
        </p:blipFill>
        <p:spPr>
          <a:xfrm xmlns:a="http://schemas.openxmlformats.org/drawingml/2006/main">
            <a:off x="6510945" y="2324100"/>
            <a:ext cx="892230" cy="99441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0DABA3-65D4-4B10-A827-829C671F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8570" y="2444115"/>
            <a:ext cx="334327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CONTINENTAL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BED791-FB48-47A1-B996-CC46FE3F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8570" y="2821305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52" b="1" i="0">
                <a:solidFill>
                  <a:srgbClr val="DDE9EC"/>
                </a:solidFill>
                <a:latin typeface="Aptos Display"/>
                <a:ea typeface="Aptos Display"/>
                <a:cs typeface="Aptos Display"/>
              </a:defRPr>
            </a:pPr>
            <a:r>
              <a:rPr sz="1552" b="1" i="0">
                <a:solidFill>
                  <a:srgbClr val="DDE9EC"/>
                </a:solidFill>
                <a:latin typeface="Aptos Display"/>
                <a:ea typeface="Aptos Display"/>
                <a:cs typeface="Aptos Display"/>
              </a:rPr>
              <a:t>PAYTECH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FCD444-63A3-4644-87F5-186043DC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Clear space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2E808B-22FB-42FC-AD6E-3397561B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Keep at least one amber-accent height around every side of the lockup.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C6D00E-8982-4324-95EB-7EF87CE8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81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Minimum size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DBACA0-2033-45FA-9B0B-F59FB1EB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62500"/>
            <a:ext cx="457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Full lockup: 140 px digital / 32 mm print</a:t>
            </a:r>
          </a:p>
          <a:p xmlns:a="http://schemas.openxmlformats.org/drawingml/2006/main">
            <a:pPr algn="l">
              <a:defRPr sz="1275" b="0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Symbol only: 24 px digital / 8 mm print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CA90D3-785E-4BA9-ABD2-A62E065B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Do not stretch, recolor, rotate, add effects or separate the amber accent.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192AF8-1D11-4CEC-9089-FDAB9FF3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CONTINENTAL PAYTECH  |  BRAND BOOK  |  VERSION 1.0</a:t>
            </a:r>
          </a:p>
        </p:txBody>
      </p:sp>
    </p:spTree>
    <p:extLst>
      <p:ext uri="{BB962C8B-B14F-4D97-AF65-F5344CB8AC3E}">
        <p14:creationId xmlns:p14="http://schemas.microsoft.com/office/powerpoint/2010/main" val="16468623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F1CFBB-57F7-4ADD-9727-9D360F4A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COLOR SYSTEM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624081-FCE0-4AEC-B585-8C5E42ABE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Color signals trust, movement and human warmth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99C11E-B691-47DB-8116-2F78B8A6A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BFE1FF-F1DD-49B6-AE64-52350F3C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381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69279B-1D32-442A-8C04-265B8B7CB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952625" cy="23812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0ED530-DAC7-4C92-8C1E-02342BBC7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81350"/>
            <a:ext cx="1609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CONTINENTAL NAVY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240756-DA62-4B9F-A02E-A4A3D09B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57600"/>
            <a:ext cx="16097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#0B1F33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E9BB9C-B7B4-43B8-B054-7A991FD33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1609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Trust / primary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9C546C-DF72-4079-807E-65935079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981200"/>
            <a:ext cx="1952625" cy="23812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00A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161A23-2BAE-42E9-877D-BD886C05C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181350"/>
            <a:ext cx="1609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COMMERCE TEAL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D6DB39-C5E3-443C-8BD7-1FC7B5D0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657600"/>
            <a:ext cx="16097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#00A7A5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955F99-0FC6-4698-9822-E5B2D03D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000500"/>
            <a:ext cx="1609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Movement / digital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C424A1-789B-4ED7-AA46-5C5F0921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1952625" cy="23812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251A91-6DF1-4A28-A17B-901B3FE4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181350"/>
            <a:ext cx="1609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ACTIVATION AMBER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B81274-6638-4185-9A60-42EFDDA5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657600"/>
            <a:ext cx="16097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#F5A623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CC3930-3232-40F5-A9A5-115200FF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000500"/>
            <a:ext cx="1609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Energy / accent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8ED19F-D642-4328-B83E-A5AC35B1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981200"/>
            <a:ext cx="1952625" cy="23812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9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6F6F9F-CA9D-4035-921E-0832DF9A5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81350"/>
            <a:ext cx="1609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OPEN WHITE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404D45-5DA2-4B8B-85CF-A6D3CE4A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657600"/>
            <a:ext cx="16097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#FFFFFF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2998F6-91C3-472D-8EF9-29E34D67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000500"/>
            <a:ext cx="1609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Clarity / space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B34539-B400-4D01-AEF2-67C9D3AD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981200"/>
            <a:ext cx="1952625" cy="23812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4054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797045-C334-43A7-85AE-7A5FE4D3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181350"/>
            <a:ext cx="1609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OPERATIONS SLATE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B212D1-B56D-4D06-BE6E-0A97B497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657600"/>
            <a:ext cx="16097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#405466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A4530D-1D0D-4326-A416-C8743795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000500"/>
            <a:ext cx="1609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Body / utility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55A195-9E8C-4701-B899-FA12D145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Recommended balance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E2F004-1F4A-486A-942B-FFF57E41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650C4F-23B3-4DE3-8A52-198398729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2197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6C0AFC-35DB-4B6B-8009-91F88510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21970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481BB0-1C94-4264-974F-299546C15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521970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9E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5045A0-9BF2-430C-8D93-1A1C8595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55% navy   25% teal   10% amber   10% white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1A0601-332C-4197-A858-01E0EF40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CONTINENTAL PAYTECH  |  BRAND BOOK  |  VERSION 1.0</a:t>
            </a:r>
          </a:p>
        </p:txBody>
      </p:sp>
    </p:spTree>
    <p:extLst>
      <p:ext uri="{BB962C8B-B14F-4D97-AF65-F5344CB8AC3E}">
        <p14:creationId xmlns:p14="http://schemas.microsoft.com/office/powerpoint/2010/main" val="20160249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228E26-4A63-4E6C-94BE-E70AB9640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TYPOGRAPHY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6D6B355-9C7D-4DD5-B97D-B44E7E8DD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Typography stays technical without feeling cold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8479C5-29BD-4072-B146-DD04CA88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13C8BC-0028-40C5-9098-61EA15B7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381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659558-C318-4D89-AF6F-88F8E87C6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581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Aptos Display Semibold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2F8C4B-E851-4AE7-AD31-82638B4F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405466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0" i="0">
                <a:solidFill>
                  <a:srgbClr val="405466"/>
                </a:solidFill>
                <a:latin typeface="Aptos Display"/>
                <a:ea typeface="Aptos Display"/>
                <a:cs typeface="Aptos Display"/>
              </a:rPr>
              <a:t>Headlines should be short, decisive and sentence case.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C9B4C3-12BF-48C5-8DB2-B2898F19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9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184D6F-B122-469C-A62D-AED4C5572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2250" b="0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Aptos Regular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D23988-C6C4-4F10-99B0-20B5EFAC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571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Use for body copy, proposals, email and product explanations. Favor plain language and generous spacing.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3291AD-10E8-4A9D-A5E9-C188CB867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00250"/>
            <a:ext cx="3714750" cy="2876550"/>
          </a:xfrm>
          <a:prstGeom xmlns:a="http://schemas.openxmlformats.org/drawingml/2006/main" prst="roundRect">
            <a:avLst>
              <a:gd name="adj" fmla="val 3974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534D1D-5DA0-4F81-8879-C9473EFE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266950"/>
            <a:ext cx="1714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7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57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CEA432-7A85-4103-8554-2FACF532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3909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0123456789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CF537E-C795-43F1-8BB0-A83AAFD3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03860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DE9EC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DDE9EC"/>
                </a:solidFill>
                <a:latin typeface="Aptos"/>
                <a:ea typeface="Aptos"/>
                <a:cs typeface="Aptos"/>
              </a:rPr>
              <a:t>Fallback stack</a:t>
            </a:r>
          </a:p>
          <a:p xmlns:a="http://schemas.openxmlformats.org/drawingml/2006/main">
            <a:pPr algn="l">
              <a:defRPr sz="1275" b="1" i="0">
                <a:solidFill>
                  <a:srgbClr val="DDE9EC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DDE9EC"/>
                </a:solidFill>
                <a:latin typeface="Aptos"/>
                <a:ea typeface="Aptos"/>
                <a:cs typeface="Aptos"/>
              </a:rPr>
              <a:t>Arial / Helvetica / sans-serif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DDCFBD-68E8-4DDD-A102-DEF60E1C0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Use Courier New only for device IDs, serials and technical code.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4C54E0-4C79-4702-BF8C-1993CC88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CONTINENTAL PAYTECH  |  BRAND BOOK  |  VERSION 1.0</a:t>
            </a:r>
          </a:p>
        </p:txBody>
      </p:sp>
    </p:spTree>
    <p:extLst>
      <p:ext uri="{BB962C8B-B14F-4D97-AF65-F5344CB8AC3E}">
        <p14:creationId xmlns:p14="http://schemas.microsoft.com/office/powerpoint/2010/main" val="20376380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951663-31D6-4615-A81B-953FFA36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VOICE AND MESSAGING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9077C1A-E03A-4E24-880D-C3B69C575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A focused voice earns trust in two languages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E53E85-20B6-46D2-8F94-7623F466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19747C-FF33-4E4A-99C3-C48EFA19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381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02DCD2-FA25-46D2-A5E8-670C942E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DIRECT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93BBDE-5E4F-42B6-B45F-C95F7ADD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9240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Lead with the outcome.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52E384-4A38-46A6-850D-0FB2F351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CAPABLE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A0E070-2833-42A3-9C06-15DFC07C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908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Explain the operational path.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F8209B-61B6-477C-BD04-AE37828A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REGION-AWARE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0DA060-05EB-4B0B-82A5-7BFE85729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575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Respect local markets and language.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A7BE96-789F-43AE-84BB-BF03C19F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CALM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311CD3-8C13-48E1-95C6-CFAC70E9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9243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Never overstate security or performance.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0FDB27-8B8C-479C-9509-310151421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924050"/>
            <a:ext cx="39433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0BE9A4-AFF7-457F-801C-6B6077D8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266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5A623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5A623"/>
                </a:solidFill>
                <a:latin typeface="Aptos"/>
                <a:ea typeface="Aptos"/>
                <a:cs typeface="Aptos"/>
              </a:rPr>
              <a:t>CORE LINE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ADA6C4-A618-4163-B609-4A83E00CD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6479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Payment technology</a:t>
            </a:r>
          </a:p>
          <a:p xmlns:a="http://schemas.openxmlformats.org/drawingml/2006/main">
            <a:pPr algn="l">
              <a:defRPr sz="21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across the Americas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514BA4-F908-4EAF-AE01-ED9EFA25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8290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SPANISH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0CEF9A-DA80-46F2-B147-497F88E2B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17195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DDE9EC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DDE9EC"/>
                </a:solidFill>
                <a:latin typeface="Aptos"/>
                <a:ea typeface="Aptos"/>
                <a:cs typeface="Aptos"/>
              </a:rPr>
              <a:t>Tecnología de pagos</a:t>
            </a:r>
          </a:p>
          <a:p xmlns:a="http://schemas.openxmlformats.org/drawingml/2006/main">
            <a:pPr algn="l">
              <a:defRPr sz="1575" b="1" i="0">
                <a:solidFill>
                  <a:srgbClr val="DDE9EC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DDE9EC"/>
                </a:solidFill>
                <a:latin typeface="Aptos"/>
                <a:ea typeface="Aptos"/>
                <a:cs typeface="Aptos"/>
              </a:rPr>
              <a:t>para las Américas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9AA356-BA51-44E0-B112-BC110A03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Prefer: connected, reliable, visible, adaptable. Avoid: revolutionary, frictionless, guaranteed, cheapest.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6C51CD-071B-4413-BE41-4E3A9B517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CONTINENTAL PAYTECH  |  BRAND BOOK  |  VERSION 1.0</a:t>
            </a:r>
          </a:p>
        </p:txBody>
      </p:sp>
    </p:spTree>
    <p:extLst>
      <p:ext uri="{BB962C8B-B14F-4D97-AF65-F5344CB8AC3E}">
        <p14:creationId xmlns:p14="http://schemas.microsoft.com/office/powerpoint/2010/main" val="20361528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54810B-D2CA-4BF1-9767-1A5662EAC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OFFER ARCHITECTURE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6A6B3C8-CC4E-4CA3-B296-8CD0C64A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Organize the offer around customer outcomes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70F8B4-9FA7-46AC-B95B-D93185EF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F1A5EC-E074-4D8B-8833-E97A48A0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381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4E6337-AE3B-4E7E-BA95-96D93FC6B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066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50556E-588E-4DFC-93F4-873A64325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8122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1E679F-914B-48EE-86C4-FEAE16BA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0478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Payment devices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3C5565-E58A-479E-8819-E2253AD5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390775"/>
            <a:ext cx="581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Smart POS / PIN pads / unattended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6A1068-8441-476B-A34A-81605F418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66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77988B-2CE0-44E2-92F7-641585D85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146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EDE19E-86FB-4CD4-BD4D-0C8A59E05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9813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Self-service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C98D1D-9446-400F-9E4D-CE4B49B76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324225"/>
            <a:ext cx="581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Kiosks / POS / peripherals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43ED6F-E04C-441C-B90E-977F2B3E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66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4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F933AD-6556-48C2-A3FF-EC9468265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4812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MANAGE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A98E8C-0CEC-4386-9DE9-F40AB100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9147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Global Connect One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F73B9B-6734-48AF-85CC-B1F3A1433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257675"/>
            <a:ext cx="581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Multi-brand TMS / fleet visibility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128F86-C162-468B-BBC6-2BBDCCA9A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1066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55D091-747B-4213-8C59-25FF37587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815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CARE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895969-1967-4581-A490-7127E521F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8482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Lifecycle services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E210D5-B1EA-4030-9965-FAF4DB13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191125"/>
            <a:ext cx="581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Deployment / support / renewal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942B43-DAFD-427E-B77F-3305396C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9812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Master brand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2ECE84-7FDF-4B1B-9DCC-AA3C1155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43150"/>
            <a:ext cx="228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Continental</a:t>
            </a:r>
          </a:p>
          <a:p xmlns:a="http://schemas.openxmlformats.org/drawingml/2006/main">
            <a:pPr algn="l">
              <a:defRPr sz="2325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PayTech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8BD98C-FCAA-4BAB-89DB-8974AE2E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23850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A258A0-C808-47D9-835D-5E5DA8BE1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2425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One commercial relationship.</a:t>
            </a:r>
          </a:p>
          <a:p xmlns:a="http://schemas.openxmlformats.org/drawingml/2006/main">
            <a:pPr algn="l">
              <a:defRPr sz="1425" b="1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Four clear solution families.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79D54B-81AF-4292-ABB4-DE3BA26F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CONTINENTAL PAYTECH  |  BRAND BOOK  |  VERSION 1.0</a:t>
            </a:r>
          </a:p>
        </p:txBody>
      </p:sp>
    </p:spTree>
    <p:extLst>
      <p:ext uri="{BB962C8B-B14F-4D97-AF65-F5344CB8AC3E}">
        <p14:creationId xmlns:p14="http://schemas.microsoft.com/office/powerpoint/2010/main" val="7953841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F220B1-692C-4F1B-86EB-591851F4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DDE9EC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DDE9EC"/>
                </a:solidFill>
                <a:latin typeface="Aptos"/>
                <a:ea typeface="Aptos"/>
                <a:cs typeface="Aptos"/>
              </a:rPr>
              <a:t>PRODUCT BRAND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1A98609-1F0A-4698-A399-858E93B1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Global Connect One is the signature platform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F99B52-CFD4-469C-8EAB-BFAE5707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80A195-8FCE-480B-BC14-8BF90CFB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381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DDE9E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DDE9EC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5A55C2-3C12-48E7-BFDE-A3E3EF2C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38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GLOBAL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97E760-6013-49D1-AE50-D5228D00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525" b="1" i="0">
                <a:solidFill>
                  <a:srgbClr val="00A7A5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 i="0">
                <a:solidFill>
                  <a:srgbClr val="00A7A5"/>
                </a:solidFill>
                <a:latin typeface="Aptos Display"/>
                <a:ea typeface="Aptos Display"/>
                <a:cs typeface="Aptos Display"/>
              </a:rPr>
              <a:t>CONNECT ONE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D0B1B6-F37A-44D3-A8EC-1160F872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DDE9EC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DDE9EC"/>
                </a:solidFill>
                <a:latin typeface="Aptos"/>
                <a:ea typeface="Aptos"/>
                <a:cs typeface="Aptos"/>
              </a:rPr>
              <a:t>by Continental PayTech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BE7674-FC6D-4863-B926-98CD05BD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66900"/>
            <a:ext cx="4667250" cy="394335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E09FF3-0091-47BE-A9AA-09EFB7B82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1717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CATEGORY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E4C629-FC1B-400A-8080-ABF1ABEB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1935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Multi-brand terminal management system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9E16A5-A4C8-43DE-94A1-75C6A8D1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9565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5A623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5A623"/>
                </a:solidFill>
                <a:latin typeface="Aptos"/>
                <a:ea typeface="Aptos"/>
                <a:cs typeface="Aptos"/>
              </a:rPr>
              <a:t>PROMISE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120A8C-C0DC-4D25-8757-0B5C7B3D9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54330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One operational view across diverse device fleets.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6DE565-6AFC-484A-9B55-814F5FD1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4958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Naming rule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D7357C-1C38-4246-922A-4442911BB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781550"/>
            <a:ext cx="381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First mention: Global Connect One by Continental PayTech</a:t>
            </a:r>
          </a:p>
          <a:p xmlns:a="http://schemas.openxmlformats.org/drawingml/2006/main">
            <a:pPr algn="l">
              <a:defRPr sz="1200" b="0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Later mentions: Global Connect One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4AE238-0180-40F3-85A1-7005D537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DDE9EC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DDE9EC"/>
                </a:solidFill>
                <a:latin typeface="Aptos"/>
                <a:ea typeface="Aptos"/>
                <a:cs typeface="Aptos"/>
              </a:rPr>
              <a:t>CONTINENTAL PAYTECH  |  BRAND BOOK  |  VERSION 1.0</a:t>
            </a:r>
          </a:p>
        </p:txBody>
      </p:sp>
    </p:spTree>
    <p:extLst>
      <p:ext uri="{BB962C8B-B14F-4D97-AF65-F5344CB8AC3E}">
        <p14:creationId xmlns:p14="http://schemas.microsoft.com/office/powerpoint/2010/main" val="6364589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57E79A-5FC0-40B9-B4FD-5B071417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BRAND IN USE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2DB5CCC-5E89-445F-806E-3318FF47D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Applications make the identity tangible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B38127-876E-40D2-BC70-5F881079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A2BFCC-E0D0-4BD1-A25D-D321FA71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381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AD5FB5-04CA-42ED-BF66-79DC7E2F0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1435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9EC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900164c1f545a7"/>
          <a:stretch xmlns:a="http://schemas.openxmlformats.org/drawingml/2006/main"/>
        </p:blipFill>
        <p:spPr>
          <a:xfrm xmlns:a="http://schemas.openxmlformats.org/drawingml/2006/main">
            <a:off x="961379" y="2190750"/>
            <a:ext cx="820442" cy="9144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92C07A-9913-4612-B6A3-652F8F4D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1717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Maria Alvarez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D604BF-986B-4ED5-93FE-ED3F790F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514600"/>
            <a:ext cx="333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Regional Sales Director</a:t>
            </a:r>
          </a:p>
          <a:p xmlns:a="http://schemas.openxmlformats.org/drawingml/2006/main">
            <a:pPr algn="l">
              <a:defRPr sz="1050" b="0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Continental PayTech</a:t>
            </a:r>
          </a:p>
          <a:p xmlns:a="http://schemas.openxmlformats.org/drawingml/2006/main">
            <a:pPr algn="l">
              <a:defRPr sz="1050" b="0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+1 510 555 0142</a:t>
            </a:r>
          </a:p>
          <a:p xmlns:a="http://schemas.openxmlformats.org/drawingml/2006/main">
            <a:pPr algn="l">
              <a:defRPr sz="1050" b="0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maria.alvarez@continentalpaytech.com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71E182-95E3-47AC-BA00-8D68ED9A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24050"/>
            <a:ext cx="48577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6E8768-8C06-41CC-AB43-763B9CC6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66950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Payment technology</a:t>
            </a:r>
          </a:p>
          <a:p xmlns:a="http://schemas.openxmlformats.org/drawingml/2006/main">
            <a:pPr algn="l">
              <a:defRPr sz="19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across the Americas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5F7D56-E3D8-4BE4-AE35-106D4A71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051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continentalpaytech.com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1C9DAA-F7A3-424D-9CFF-20C68ACFE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3632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09751d29084713"/>
          <a:stretch xmlns:a="http://schemas.openxmlformats.org/drawingml/2006/main"/>
        </p:blipFill>
        <p:spPr>
          <a:xfrm xmlns:a="http://schemas.openxmlformats.org/drawingml/2006/main">
            <a:off x="1003394" y="4191000"/>
            <a:ext cx="888812" cy="9906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C98A91-F647-443C-81E2-99386100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2672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GLOBAL CONNECT ONE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65850C-B2DA-44F9-94AB-0FA850A2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6863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DE9E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DDE9EC"/>
                </a:solidFill>
                <a:latin typeface="Aptos"/>
                <a:ea typeface="Aptos"/>
                <a:cs typeface="Aptos"/>
              </a:rPr>
              <a:t>Connecting secure device operations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5595BC-BD22-448E-9AD7-5B9BD8C8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57700"/>
            <a:ext cx="15240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28BBA0-E7EE-43BE-80E8-C26339DE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57700"/>
            <a:ext cx="9334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D19D53-EE28-4C01-8402-2333D242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577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DDE9EC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DDE9EC"/>
                </a:solidFill>
                <a:latin typeface="Aptos"/>
                <a:ea typeface="Aptos"/>
                <a:cs typeface="Aptos"/>
              </a:rPr>
              <a:t>DEVICE SPLASH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7E1247-130B-4712-B1B3-1F6E62CB5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CONTINENTAL PAYTECH  |  BRAND BOOK  |  VERSION 1.0</a:t>
            </a:r>
          </a:p>
        </p:txBody>
      </p:sp>
    </p:spTree>
    <p:extLst>
      <p:ext uri="{BB962C8B-B14F-4D97-AF65-F5344CB8AC3E}">
        <p14:creationId xmlns:p14="http://schemas.microsoft.com/office/powerpoint/2010/main" val="176917575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B86CBF-0B79-44E4-8D4E-83AA5B6D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142DBFA-D243-46D0-B53E-E0B75E3A5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Secure the identity before public launch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F761EB-C236-4933-AEFE-2908886A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14EA9C-50F4-4E2F-A759-82EBADFC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381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03A5A9-A647-4076-B803-1860214BA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5A62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5A623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F32866-19AF-45B8-AE5F-CFAE0D80B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478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Register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045E87-BEAA-49B6-9140-0371DFA7C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669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Acquire continentalpaytech.com as primary and continentalpay.tech as a defensive redirect.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2D1BDB-B020-4293-BC29-E0B97B62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5A62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5A62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3D0234-3D9D-444F-A360-6F2D50C2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479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Clear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9C0DF1-7593-479D-9DA1-E235F5A5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670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Complete California entity, USPTO and international trademark screening.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F7127C-EC7C-4288-B750-E5D86F78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5A62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5A62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C332DF-635B-47E1-AB20-C35AAD316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480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Prepare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A17B8B-A10E-4916-848B-3F69B8CB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671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Create production SVG and EPS masters, then test accessibility and small-size use.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3179E6-6207-4198-860F-5C925A3D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5A62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5A62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105AAB-B96E-46EE-A89C-51A35C454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481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Deploy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CE792F-7CE5-4E81-9213-D1125D694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672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Standardize email, proposals, website, device screens and partner materials.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A99E46-DDB2-4019-8C91-32F01149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3632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656E5F-30B5-481A-B116-49F7F293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292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Clearance note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767BB4-9433-4422-92A1-8064FB50F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53050"/>
            <a:ext cx="828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A California company named Continental Payment Solutions appears in Euronet's subsidiary list. Counsel should assess similarity risk before filing or spending on launch.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53227C-4F5B-47DE-9CA0-C4CB590A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405466"/>
                </a:solidFill>
                <a:latin typeface="Aptos"/>
                <a:ea typeface="Aptos"/>
                <a:cs typeface="Aptos"/>
              </a:rPr>
              <a:t>CONTINENTAL PAYTECH  |  BRAND BOOK  |  VERSION 1.0</a:t>
            </a:r>
          </a:p>
        </p:txBody>
      </p:sp>
    </p:spTree>
    <p:extLst>
      <p:ext uri="{BB962C8B-B14F-4D97-AF65-F5344CB8AC3E}">
        <p14:creationId xmlns:p14="http://schemas.microsoft.com/office/powerpoint/2010/main" val="161736815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1240721e3a498f"/>
          <a:stretch xmlns:a="http://schemas.openxmlformats.org/drawingml/2006/main"/>
        </p:blipFill>
        <p:spPr>
          <a:xfrm xmlns:a="http://schemas.openxmlformats.org/drawingml/2006/main">
            <a:off x="4848245" y="876300"/>
            <a:ext cx="2495510" cy="27813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3CFD30-22B4-48A5-B254-7152BA931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95750"/>
            <a:ext cx="800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Payment technology across the Americas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6838EF-730A-44F1-8789-7FE3F0E2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91490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0A7A5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00A7A5"/>
                </a:solidFill>
                <a:latin typeface="Aptos"/>
                <a:ea typeface="Aptos"/>
                <a:cs typeface="Aptos"/>
              </a:rPr>
              <a:t>continentalpaytech.com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3C6ED9-917A-4FFD-8A6B-E77CCC029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581650"/>
            <a:ext cx="190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9C6E8C-8A38-47D3-90D3-A2BA591F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1150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DDE9E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DDE9EC"/>
                </a:solidFill>
                <a:latin typeface="Aptos"/>
                <a:ea typeface="Aptos"/>
                <a:cs typeface="Aptos"/>
              </a:rPr>
              <a:t>CONTINENTAL PAYMENT TECHNOLOGIES, INC.</a:t>
            </a:r>
          </a:p>
        </p:txBody>
      </p:sp>
    </p:spTree>
    <p:extLst>
      <p:ext uri="{BB962C8B-B14F-4D97-AF65-F5344CB8AC3E}">
        <p14:creationId xmlns:p14="http://schemas.microsoft.com/office/powerpoint/2010/main" val="10778720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2026-08-11T04:25:25.6910000Z</dcterms:created>
  <dcterms:modified xsi:type="dcterms:W3CDTF">2026-08-11T04:25:25.6910000Z</dcterms:modified>
</coreProperties>
</file>