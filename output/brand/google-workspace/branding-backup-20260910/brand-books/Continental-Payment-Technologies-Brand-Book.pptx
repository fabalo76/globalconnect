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5999599764784" /><Relationship Type="http://schemas.openxmlformats.org/officeDocument/2006/relationships/extended-properties" Target="/docProps/app.xml" Id="R24ebd53bc8b8436c" /><Relationship Type="http://schemas.openxmlformats.org/officeDocument/2006/relationships/officeDocument" Target="/ppt/presentation.xml" Id="R02b5f89bf3f547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f42902de23488c"/>
  </p:sldMasterIdLst>
  <p:notesMasterIdLst>
    <p:notesMasterId xmlns:r="http://schemas.openxmlformats.org/officeDocument/2006/relationships" r:id="R1bbde6d42b024462"/>
  </p:notesMasterIdLst>
  <p:sldIdLst>
    <p:sldId xmlns:r="http://schemas.openxmlformats.org/officeDocument/2006/relationships" id="256" r:id="R2a027682e3cc4995"/>
    <p:sldId xmlns:r="http://schemas.openxmlformats.org/officeDocument/2006/relationships" id="257" r:id="R31bf3d2b53944317"/>
    <p:sldId xmlns:r="http://schemas.openxmlformats.org/officeDocument/2006/relationships" id="258" r:id="Rd98b445816584774"/>
    <p:sldId xmlns:r="http://schemas.openxmlformats.org/officeDocument/2006/relationships" id="259" r:id="R1dc3ad6e85914d5a"/>
    <p:sldId xmlns:r="http://schemas.openxmlformats.org/officeDocument/2006/relationships" id="260" r:id="Rd3eda0388be445bc"/>
    <p:sldId xmlns:r="http://schemas.openxmlformats.org/officeDocument/2006/relationships" id="261" r:id="Ra3bdfe8be8db4bdc"/>
    <p:sldId xmlns:r="http://schemas.openxmlformats.org/officeDocument/2006/relationships" id="262" r:id="R50eb0cffef534c7b"/>
    <p:sldId xmlns:r="http://schemas.openxmlformats.org/officeDocument/2006/relationships" id="263" r:id="Racd2a4db3cb64f80"/>
    <p:sldId xmlns:r="http://schemas.openxmlformats.org/officeDocument/2006/relationships" id="264" r:id="R326cff63097d4d4f"/>
    <p:sldId xmlns:r="http://schemas.openxmlformats.org/officeDocument/2006/relationships" id="265" r:id="Rf507506ed5f3466d"/>
    <p:sldId xmlns:r="http://schemas.openxmlformats.org/officeDocument/2006/relationships" id="266" r:id="Rf229d3d33f1744aa"/>
    <p:sldId xmlns:r="http://schemas.openxmlformats.org/officeDocument/2006/relationships" id="267" r:id="R7e9c0d7c82444b21"/>
    <p:sldId xmlns:r="http://schemas.openxmlformats.org/officeDocument/2006/relationships" id="268" r:id="Rf65e8be4a35c4f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fbded6f2d40c4" /><Relationship Type="http://schemas.openxmlformats.org/officeDocument/2006/relationships/slideMaster" Target="/ppt/slideMasters/slideMaster1.xml" Id="Rabf42902de23488c" /><Relationship Type="http://schemas.openxmlformats.org/officeDocument/2006/relationships/notesMaster" Target="/ppt/notesMasters/notesMaster1.xml" Id="R1bbde6d42b024462" /><Relationship Type="http://schemas.openxmlformats.org/officeDocument/2006/relationships/presProps" Target="/ppt/presProps.xml" Id="Rda2a0ead741b49d6" /><Relationship Type="http://schemas.openxmlformats.org/officeDocument/2006/relationships/tableStyles" Target="/ppt/tableStyles.xml" Id="R96c5a93406284337" /><Relationship Type="http://schemas.openxmlformats.org/officeDocument/2006/relationships/slide" Target="/ppt/slides/slide1.xml" Id="R2a027682e3cc4995" /><Relationship Type="http://schemas.openxmlformats.org/officeDocument/2006/relationships/slide" Target="/ppt/slides/slide2.xml" Id="R31bf3d2b53944317" /><Relationship Type="http://schemas.openxmlformats.org/officeDocument/2006/relationships/slide" Target="/ppt/slides/slide3.xml" Id="Rd98b445816584774" /><Relationship Type="http://schemas.openxmlformats.org/officeDocument/2006/relationships/slide" Target="/ppt/slides/slide4.xml" Id="R1dc3ad6e85914d5a" /><Relationship Type="http://schemas.openxmlformats.org/officeDocument/2006/relationships/slide" Target="/ppt/slides/slide5.xml" Id="Rd3eda0388be445bc" /><Relationship Type="http://schemas.openxmlformats.org/officeDocument/2006/relationships/slide" Target="/ppt/slides/slide6.xml" Id="Ra3bdfe8be8db4bdc" /><Relationship Type="http://schemas.openxmlformats.org/officeDocument/2006/relationships/slide" Target="/ppt/slides/slide7.xml" Id="R50eb0cffef534c7b" /><Relationship Type="http://schemas.openxmlformats.org/officeDocument/2006/relationships/slide" Target="/ppt/slides/slide8.xml" Id="Racd2a4db3cb64f80" /><Relationship Type="http://schemas.openxmlformats.org/officeDocument/2006/relationships/slide" Target="/ppt/slides/slide9.xml" Id="R326cff63097d4d4f" /><Relationship Type="http://schemas.openxmlformats.org/officeDocument/2006/relationships/slide" Target="/ppt/slides/slide10.xml" Id="Rf507506ed5f3466d" /><Relationship Type="http://schemas.openxmlformats.org/officeDocument/2006/relationships/slide" Target="/ppt/slides/slide11.xml" Id="Rf229d3d33f1744aa" /><Relationship Type="http://schemas.openxmlformats.org/officeDocument/2006/relationships/slide" Target="/ppt/slides/slide12.xml" Id="R7e9c0d7c82444b21" /><Relationship Type="http://schemas.openxmlformats.org/officeDocument/2006/relationships/slide" Target="/ppt/slides/slide13.xml" Id="Rf65e8be4a35c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b1bb7126e42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7a8ea200c14ed3" /><Relationship Type="http://schemas.openxmlformats.org/officeDocument/2006/relationships/notesMaster" Target="/ppt/notesMasters/notesMaster1.xml" Id="R5003e6861810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fa641a3f5415f" /><Relationship Type="http://schemas.openxmlformats.org/officeDocument/2006/relationships/notesMaster" Target="/ppt/notesMasters/notesMaster1.xml" Id="Rc2267a5e70ec49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f2268de81145a3" /><Relationship Type="http://schemas.openxmlformats.org/officeDocument/2006/relationships/notesMaster" Target="/ppt/notesMasters/notesMaster1.xml" Id="R71a27f1b17b6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326bffd0e240a4" /><Relationship Type="http://schemas.openxmlformats.org/officeDocument/2006/relationships/notesMaster" Target="/ppt/notesMasters/notesMaster1.xml" Id="Rca64e9dad2cc4d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1ad3fb9e014d68" /><Relationship Type="http://schemas.openxmlformats.org/officeDocument/2006/relationships/notesMaster" Target="/ppt/notesMasters/notesMaster1.xml" Id="R64f02ba4ab7547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5b646c56e045b5" /><Relationship Type="http://schemas.openxmlformats.org/officeDocument/2006/relationships/notesMaster" Target="/ppt/notesMasters/notesMaster1.xml" Id="Rdbab50e0f83041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c4346b04f4a1f" /><Relationship Type="http://schemas.openxmlformats.org/officeDocument/2006/relationships/notesMaster" Target="/ppt/notesMasters/notesMaster1.xml" Id="R6fd3709661e046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06e7fa9f3240bb" /><Relationship Type="http://schemas.openxmlformats.org/officeDocument/2006/relationships/notesMaster" Target="/ppt/notesMasters/notesMaster1.xml" Id="R0d6b6d255087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c7b08c6d62494f" /><Relationship Type="http://schemas.openxmlformats.org/officeDocument/2006/relationships/notesMaster" Target="/ppt/notesMasters/notesMaster1.xml" Id="R1b553840a3f24f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653b5ac89c493e" /><Relationship Type="http://schemas.openxmlformats.org/officeDocument/2006/relationships/notesMaster" Target="/ppt/notesMasters/notesMaster1.xml" Id="R7c8437a81c0440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e21b7549ca47a6" /><Relationship Type="http://schemas.openxmlformats.org/officeDocument/2006/relationships/notesMaster" Target="/ppt/notesMasters/notesMaster1.xml" Id="R123b715a774a42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932c53141b4a98" /><Relationship Type="http://schemas.openxmlformats.org/officeDocument/2006/relationships/notesMaster" Target="/ppt/notesMasters/notesMaster1.xml" Id="R716e7f19eb934c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873d894c9b4518" /><Relationship Type="http://schemas.openxmlformats.org/officeDocument/2006/relationships/notesMaster" Target="/ppt/notesMasters/notesMaster1.xml" Id="R7bd3ed57c3ed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https://www.nexgoglobal.com/</a:t>
            </a:r>
          </a:p>
          <a:p xmlns:a="http://schemas.openxmlformats.org/drawingml/2006/main">
            <a:r>
              <a:t>- https://www.fecpos.com/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https://rdap.verisign.com/com/v1/domain/continentalpaytech.com</a:t>
            </a:r>
          </a:p>
          <a:p xmlns:a="http://schemas.openxmlformats.org/drawingml/2006/main">
            <a:r>
              <a:t>- https://rdap.radix.host/rdap/domain/continentalpay.tech</a:t>
            </a:r>
          </a:p>
          <a:p xmlns:a="http://schemas.openxmlformats.org/drawingml/2006/main">
            <a:r>
              <a:t>- https://www.icann.org/rdap/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concept mark; production vector refinement required before trademark filing.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https://www.nexgoglobal.com/</a:t>
            </a:r>
          </a:p>
          <a:p xmlns:a="http://schemas.openxmlformats.org/drawingml/2006/main">
            <a:r>
              <a:t>- https://www.fecpos.com/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https://www.sec.gov/Archives/edgar/data/1029199/000121390025017068/ex211_2.htm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db7a7fafa47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65513aae454900" /><Relationship Type="http://schemas.openxmlformats.org/officeDocument/2006/relationships/slideLayout" Target="/ppt/slideLayouts/slideLayout1.xml" Id="Re245151c3c3749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5151c3c3749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3cf555140494c" /><Relationship Type="http://schemas.openxmlformats.org/officeDocument/2006/relationships/image" Target="/ppt/media/image.png" Id="Rab548449cbca49c0" /><Relationship Type="http://schemas.openxmlformats.org/officeDocument/2006/relationships/notesSlide" Target="/ppt/notesSlides/notesSlide1.xml" Id="Re4f7b561760241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b1f5730ae4c41" /><Relationship Type="http://schemas.openxmlformats.org/officeDocument/2006/relationships/notesSlide" Target="/ppt/notesSlides/notesSlide2.xml" Id="R8c8158f35709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5bffae95a4d5e" /><Relationship Type="http://schemas.openxmlformats.org/officeDocument/2006/relationships/notesSlide" Target="/ppt/notesSlides/notesSlide3.xml" Id="R6152b99791014b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556652c944070" /><Relationship Type="http://schemas.openxmlformats.org/officeDocument/2006/relationships/image" Target="/ppt/media/image2.png" Id="R39c7a19a81104d73" /><Relationship Type="http://schemas.openxmlformats.org/officeDocument/2006/relationships/notesSlide" Target="/ppt/notesSlides/notesSlide4.xml" Id="R26c942f992cc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aae0e49204262" /><Relationship Type="http://schemas.openxmlformats.org/officeDocument/2006/relationships/image" Target="/ppt/media/image3.png" Id="R2e19801cba0e40d4" /><Relationship Type="http://schemas.openxmlformats.org/officeDocument/2006/relationships/image" Target="/ppt/media/image4.png" Id="Rc89e289751bb4b92" /><Relationship Type="http://schemas.openxmlformats.org/officeDocument/2006/relationships/notesSlide" Target="/ppt/notesSlides/notesSlide5.xml" Id="R0b9af07bc03a44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dbedebdd9494a" /><Relationship Type="http://schemas.openxmlformats.org/officeDocument/2006/relationships/notesSlide" Target="/ppt/notesSlides/notesSlide6.xml" Id="Raf6577ee523b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7effcc6814da0" /><Relationship Type="http://schemas.openxmlformats.org/officeDocument/2006/relationships/notesSlide" Target="/ppt/notesSlides/notesSlide7.xml" Id="Rcfd952f5ec054e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6a3d274f84045" /><Relationship Type="http://schemas.openxmlformats.org/officeDocument/2006/relationships/notesSlide" Target="/ppt/notesSlides/notesSlide8.xml" Id="R1cc3b26ccc2b4f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07f1f03f44fc6" /><Relationship Type="http://schemas.openxmlformats.org/officeDocument/2006/relationships/notesSlide" Target="/ppt/notesSlides/notesSlide9.xml" Id="R0546d58f2ad94b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08d3777d64b42" /><Relationship Type="http://schemas.openxmlformats.org/officeDocument/2006/relationships/notesSlide" Target="/ppt/notesSlides/notesSlide10.xml" Id="R753153c00f254c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df0cc92de40b7" /><Relationship Type="http://schemas.openxmlformats.org/officeDocument/2006/relationships/image" Target="/ppt/media/image5.png" Id="Ra8bbb573acc848e7" /><Relationship Type="http://schemas.openxmlformats.org/officeDocument/2006/relationships/image" Target="/ppt/media/image6.png" Id="Re8d1f195be2d4ec7" /><Relationship Type="http://schemas.openxmlformats.org/officeDocument/2006/relationships/notesSlide" Target="/ppt/notesSlides/notesSlide11.xml" Id="R36dabb4feeeb42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1bc9512be41d3" /><Relationship Type="http://schemas.openxmlformats.org/officeDocument/2006/relationships/notesSlide" Target="/ppt/notesSlides/notesSlide12.xml" Id="R5fe715cb286d41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09c7f37324a37" /><Relationship Type="http://schemas.openxmlformats.org/officeDocument/2006/relationships/image" Target="/ppt/media/image7.png" Id="R15ad5a8d10594429" /><Relationship Type="http://schemas.openxmlformats.org/officeDocument/2006/relationships/notesSlide" Target="/ppt/notesSlides/notesSlide13.xml" Id="Raffafc9a853e42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52F56-2FC9-4EF5-ADC6-0E02E6D4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E21D-4F3A-4567-AE8E-44D8EA2A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48449cbca49c0"/>
          <a:stretch xmlns:a="http://schemas.openxmlformats.org/drawingml/2006/main"/>
        </p:blipFill>
        <p:spPr>
          <a:xfrm xmlns:a="http://schemas.openxmlformats.org/drawingml/2006/main">
            <a:off x="7524750" y="964321"/>
            <a:ext cx="3238500" cy="335773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3F9F8-DDAE-487B-B2C5-237987D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E0026-C19D-428A-A27B-085E1FE4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51F5D-9E9C-4EE0-B773-9A2DE3A7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Brand 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3DDD8-ABA7-4B44-A93A-EAAD7222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Technologies, Inc.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C9C01-2F04-43EA-A61F-D68A56F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Payment technology across the Americas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D544D-0DEA-4846-86C8-F842757B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DRAFT 0.1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396719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466FE-F7DD-44A3-ADFC-A9164926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FOUNDATION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E8FDC-F4A2-4078-AC99-3F0AC71C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brand makes complex commerce feel operationally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88393-0093-4DC9-9B05-874A9167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5125D-3B11-4552-B1AE-027BB1D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9BF83-5F3E-45AF-916E-600E9F0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AA26C-1415-43F7-8C11-1D803795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Enable payment and self-service programs to operate confidently across the Americas.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551DD-2236-492B-AC57-78A546B0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381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58F30-F2DC-4319-8CD0-57F9F806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PROMISE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0A558-2BFB-4663-B93C-1B79A360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accountable technology partner - from device choice to fleet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AA543-6FD7-4D9C-8F44-0AF184BB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0E647-02E0-4AE1-A0D2-1AC8B6C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regional payment technology company combining devices, kiosks and multi-brand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473FF-AB64-48C2-8B19-16F546E3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NORTH AMERICA    LATIN AMERICA    CARIBBEAN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0CE65-AB8E-446D-8183-31C3CED2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787775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8ACB5-1A11-432E-A362-8B0C52E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NAMING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A520D-1807-47D8-B312-4843A4E6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Use one formal name and one memorable public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B11E2-C902-4462-98C9-41D54CD8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D81BC-8094-456F-B3A6-C234B591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BC076-542B-4CDF-9366-2371D71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LEGAL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7B0C1-261E-4618-8C9F-4D0D214D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 Payment Technologies,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38240-E2A7-4C7B-8CD9-F6E7EFD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PUBLIC BRAND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77E13-528E-4FF1-9F55-1DB5A80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 PayTech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24AA1-D278-4D76-926F-08A918C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667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2A3FA-E948-499A-9FF4-39A0A43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PRIMARY 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C6EEE-46A9-4E9F-A9EB-0A129781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continentalpaytech.com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52EDE-BE10-4836-AD09-7FCD5CC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firstname.lastname@continentalpaytech.com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0BC80-D9DC-40CB-918C-474FB706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Primary enterprise domain. Verisign RDAP returned no registration record on Aug. 10, 2026.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7D510-BA73-4043-A839-1609FE03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SECONDARY  continentalpay.tech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5E548-147C-4CC5-A990-2334815E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Approved descriptor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CFC1F-9891-4FAF-9C81-6AC624FE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devices, kiosks and lifecycle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039B3-5E9F-434E-ACF3-83BB469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1833251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8BC5A-51A3-487F-A167-44CEFDC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LOGO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65D32D-39DC-42ED-A633-602B3FA6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symbol turns continental scale into controlled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4A313-C5CD-4422-888C-2EF57B0D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6A3B3-2B33-4044-8C21-F19C569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7a19a81104d73"/>
          <a:stretch xmlns:a="http://schemas.openxmlformats.org/drawingml/2006/main"/>
        </p:blipFill>
        <p:spPr>
          <a:xfrm xmlns:a="http://schemas.openxmlformats.org/drawingml/2006/main">
            <a:off x="876992" y="2190750"/>
            <a:ext cx="1300112" cy="13479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BC7F2-5A35-42E8-9ADC-9B6153E2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206" y="2353437"/>
            <a:ext cx="4531995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4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74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65EF-FB62-4A2A-BDDC-DFB4559C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206" y="2864739"/>
            <a:ext cx="3486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210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01181-40A1-458D-9133-69ACC30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modular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A8EF7-4B77-4888-81CE-56917CD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Three directional bands create a distinctive C: broad enough for continental reach, structured enough for regulated commerce.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E06EC-E773-4C87-B4F3-1CDD632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Teal movement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22C6E-5896-47CF-877A-E47F55B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The center band represents active commerce and multi-brand orchestration.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645F-42B6-4A51-B9E6-28E62CA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Amber activation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93101-1712-447E-9F05-41E9E130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The small accent marks the moment technology becomes a transaction.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375D4-A195-4352-8A2A-289BE589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898089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F18A0-F427-4F81-A9E6-4278522D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LOGO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3A11F3-D537-41B9-82B3-84E5208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Keep the lockup disciplined, legible and consistent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D5776-CC53-4DDF-940A-BA454CE6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97267-7817-4DF4-BEC2-CF7897A6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CE67C-F5C5-428E-A43F-2AF63E18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9801cba0e40d4"/>
          <a:stretch xmlns:a="http://schemas.openxmlformats.org/drawingml/2006/main"/>
        </p:blipFill>
        <p:spPr>
          <a:xfrm xmlns:a="http://schemas.openxmlformats.org/drawingml/2006/main">
            <a:off x="1067311" y="2324100"/>
            <a:ext cx="959099" cy="99441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66CAE-0A13-420E-AB61-458EC9A4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44115"/>
            <a:ext cx="334327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5B795-90EE-4876-B061-3F34E358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82130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52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552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C581C-F573-4B0F-B45D-257BDCEA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e289751bb4b92"/>
          <a:stretch xmlns:a="http://schemas.openxmlformats.org/drawingml/2006/main"/>
        </p:blipFill>
        <p:spPr>
          <a:xfrm xmlns:a="http://schemas.openxmlformats.org/drawingml/2006/main">
            <a:off x="6477511" y="2324100"/>
            <a:ext cx="959099" cy="99441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15DE4-636B-4795-B206-0849771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2444115"/>
            <a:ext cx="334327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26FCD-9760-4E4F-B42A-8A5F196A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282130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52" b="1" i="0">
                <a:solidFill>
                  <a:srgbClr val="DDE9EC"/>
                </a:solidFill>
                <a:latin typeface="Aptos Display"/>
                <a:ea typeface="Aptos Display"/>
                <a:cs typeface="Aptos Display"/>
              </a:defRPr>
            </a:pPr>
            <a:r>
              <a:rPr sz="1552" b="1" i="0">
                <a:solidFill>
                  <a:srgbClr val="DDE9EC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9E924-3D85-4FF2-9881-C7FE441B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Clear 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59FDE-4D48-4451-8B01-DD354DE4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Keep at least one center-band height around every side of the lockup.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79A64-CE18-4DB8-AF1B-D7028F59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Minimum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77852-1BBC-443E-AF04-2FD31E03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Full lockup: 140 px digital / 32 mm print</a:t>
            </a:r>
          </a:p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Symbol only: 24 px digital / 8 mm 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9B221-E353-447A-BA63-6AA37EC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Do not stretch, recolor, rotate, add effects or separate the amber accent.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F53D3-1FAB-4E20-9F5C-84115F08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2040677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96886-8976-4E98-8B23-052B0E5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COLOR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9C3F82-5A2F-4F04-90C8-49D84D8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Color signals trust, movement and human warmth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B4A96-DE1F-4F43-BD48-EDFBC4B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F247B-4813-4B84-8E4F-9DCA3120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43AFC-2516-40B9-8DC5-94AE4DAA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815C5-5DDB-45E9-BC4B-4BD948E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CONTINENTAL NAVY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39AF1-7F44-476A-B7BA-CE144F12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#0B1F33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B4A39-8689-4021-BD09-A285C20F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/ 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E6800-7852-4C7A-8474-0018F711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C2FDE-B8FD-40B2-8F85-D268F802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COMMERCE TEAL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0969D-C0E2-44AE-8139-B3F97D6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#00A7A5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17E0C-870E-4ED9-BE5F-7B03F5ED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Movement / digital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F66A6-DDA0-47BF-8BE1-3F4C0FD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7207E-16A3-4941-B5CC-46D177EB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ACTIVATION AMBER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A1330-76B9-4FBE-99B6-D3DD1D01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#F5A623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4F167-65D2-4A9D-B494-49B80906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Energy / accent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BFD9-2B9E-42BF-AC2E-64F91559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92456-DC5A-49C4-BEED-7BFC1286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WHITE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B32E5-1DF7-4258-A105-B97DF1C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#FFFFFF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801C4-932A-44BD-A8BD-5705BB81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Clarity / 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AE036-05CB-44B3-B5F5-0D5E5163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40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E1A94-51A7-4F27-8256-B3BA5C9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OPERATIONS SLATE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B2FC2-65C9-48BD-BB38-4719F64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#405466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94A68-C87C-40E8-97BC-61EE2ECC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Body /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FB03E-228C-44A2-A0BE-9D9C8238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Recommended 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B93C8-D4A3-4DBF-B468-E4EABB30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3709C-93D0-4597-88C2-BD54096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67146D-A02F-4344-AED7-191B5E26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AB5AA-08D4-4F5B-A315-E71E3145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197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EA2CC-6999-47B8-A368-C5CAE21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55% navy   25% teal   10% amber   10% white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F7774-5992-4CB0-A6AF-CB9DC1EE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180934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F8E1D-8F1D-45F4-B8C2-321AB1F3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TYPOGRAPHY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2A0B23-B048-46D5-BEF4-FA9EA36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Typography stays technical without feeling cold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BD18D-B948-4473-AF32-434A72EA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A5005-AE5E-47CA-86D6-F6316A00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02C5C-8200-47BE-9B93-C93D733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Aptos Display Semibold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C916E-4C26-4674-9E2E-0DB40D2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0546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 i="0">
                <a:solidFill>
                  <a:srgbClr val="405466"/>
                </a:solidFill>
                <a:latin typeface="Aptos Display"/>
                <a:ea typeface="Aptos Display"/>
                <a:cs typeface="Aptos Display"/>
              </a:rPr>
              <a:t>Headlines should be short, decisive and sentence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0A3A5-D56C-4D76-BF9B-F2C173DD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F9CE6-2DED-452C-9C71-B53DD502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Aptos 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4C4C-6BAF-4FAA-BD54-77038F47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Use for body copy, proposals, email and product explanations. Favor plain language and generous spacing.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1DB33-C4A0-4D66-B5BA-26B8057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37147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11AC2-C73D-4760-9A0E-A6C5A86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3A58E-892C-4CF3-888F-773EF979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0123456789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66CF0-DAA1-4629-9D5C-99A57C0B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Fallback stack</a:t>
            </a:r>
          </a:p>
          <a:p xmlns:a="http://schemas.openxmlformats.org/drawingml/2006/main">
            <a:pPr algn="l">
              <a:defRPr sz="12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Arial / Helvetica / sans-serif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63505-C728-4663-8D09-2FBF991F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Use Courier New only for device IDs, serials and technical code.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F999F-2F4C-4B79-9210-C102300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720454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D5C40-29D0-46E8-B0C6-42DB5FDF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VOICE AND MESSAGING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B30110-2431-4BE7-9C64-2D324E1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focused voice earns trust in two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C0D38-E55C-421D-91D6-DAEAC223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9CEB9-9160-4CBF-A9D9-299A9E8B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360D-2DDC-4B66-9889-BEF88C6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EE344-2F39-4A0D-BE5A-FF05211F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Lead with the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8F6CA-94D9-44DA-B6FA-B824D3A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CAPABLE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A1DA3-BCAE-41BF-AEF0-6C99876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Explain the operational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C6D45-9911-4815-96C1-02E94CDF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REGION-AWARE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185D8-7340-4D41-A2FA-E843735B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Respect local markets and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4F91F-396F-4883-A3AA-1AB5E552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33775-6563-4A03-84EA-E4741A3A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24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Never overstate security or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F8CF9-16D2-4A71-98E2-55EA36B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943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0C8D9-3E80-42DF-8D9F-9122D2CB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CORE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9DCDD-4FA0-452E-AB26-F1529EC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</a:t>
            </a:r>
          </a:p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across the Americas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A8DBD-A175-4E5C-B926-101E6D7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SPANISH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5F20E-FDDB-4236-8C43-F884397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Tecnología de pagos</a:t>
            </a:r>
          </a:p>
          <a:p xmlns:a="http://schemas.openxmlformats.org/drawingml/2006/main">
            <a:pPr algn="l">
              <a:defRPr sz="15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para las Américas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FFE3B-DDDD-4415-AB7F-6E7AD0C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Prefer: connected, reliable, visible, adaptable. Avoid: revolutionary, frictionless, guaranteed, cheapest.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99B28-C975-4011-9B71-245775BC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2132728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AB999-89FA-433E-BA08-37C6B866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OFFER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44F974-E53C-41D5-A619-0DA94662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Organize the offer around customer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758D0-29F2-4BC5-BA17-256AC66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15A6E-4A8D-4F55-B2F4-8AC26BFB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49123-6A2B-4B55-ABF4-AB37E48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E5D4E-7F1B-41FD-B8A3-3E97DE96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C8DBA-EF40-45EA-8BF8-C48B1D68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F8388-DCB6-4331-9C9F-C6ABDE6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907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Smart POS / PIN pads / unattended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A1EB3-919F-4BF4-BB17-D3AB357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2EAB5-0428-4265-8B25-DBEC28F3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8F8F6-5449-455E-B21A-C78D421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81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Self-service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2116E-DE96-4694-8B73-800ADCE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Kiosks / POS / peripherals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36FE7-567E-45F2-BCDD-A14D423A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59331-D1D1-42BA-BE58-A8FB2A5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5E025-25F6-4023-9656-230BF78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47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Global Connect 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8AFA6-E605-4835-835A-A3D9487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576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Multi-brand TMS / fleet visibility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B9400-358E-4206-8F88-0BB1186B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130CE-C5FB-4987-B619-67DAACE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E0E32-CE0D-492D-B9CA-C00F66D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482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Lifecycle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CC014-B511-4E4E-8D26-85CD38F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911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Deployment / support / renewal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52155-0DCB-473D-A962-9B4E4BBB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81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Master 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1F922-023A-497A-BBC3-58F7186B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D11A2-6C3D-49F7-8110-F807AC4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B5439-4794-409E-A53C-E6379D8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One commercial relationship.</a:t>
            </a:r>
          </a:p>
          <a:p xmlns:a="http://schemas.openxmlformats.org/drawingml/2006/main">
            <a:pPr algn="l">
              <a:defRPr sz="14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Four clear solution families.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B0D99-D373-4029-A749-911F1869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10563680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2B103-1E76-4402-AFC9-B4337828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PRODUCT BRAND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0C2950-7604-42B2-8240-B08CDB7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 Connect One is the signature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C5DA7-4A04-4D28-AC5A-D7FFA1F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2BDEF-9666-4BBC-8C50-2655C30B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12786-EDA1-480E-8695-5BD53C5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E9605-E607-4B7C-B7EC-FB28B31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CONNECT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4B6A9-411B-4C93-B16E-14F4EB1F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by Continental PayTech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0221C-7C97-4234-9002-3771843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6672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94999-6FB6-4CF5-B7B2-5F0BA8A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C33D1-CBC4-47CB-B7A6-A0F3516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Multi-brand terminal management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47846-0F0A-4509-B4E3-9CE04F71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PROMISE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78787-1257-4A29-8B33-05D5D553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operational view across diverse device fleets.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A827B-4481-412B-8430-A5489D3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Naming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9532E-C34E-49A8-BBDD-3E7A9D2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First mention: Global Connect One by Continental PayTech</a:t>
            </a:r>
          </a:p>
          <a:p xmlns:a="http://schemas.openxmlformats.org/drawingml/2006/main">
            <a:pPr algn="l"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Later mentions: Global Connect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31BE9-4160-42FA-A479-46875284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2119437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16D87-E868-43BA-80FB-B56E4D0E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IN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0DB62B-32D7-400A-A114-2EC3F4CF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Applications make the identity tangible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6198-E155-4346-B2CE-8CA8DA97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AF51E-4B1D-48F1-AAD5-3AC6C7E8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86C0D-C521-439A-B8F4-AFA9694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bb573acc848e7"/>
          <a:stretch xmlns:a="http://schemas.openxmlformats.org/drawingml/2006/main"/>
        </p:blipFill>
        <p:spPr>
          <a:xfrm xmlns:a="http://schemas.openxmlformats.org/drawingml/2006/main">
            <a:off x="933450" y="2193669"/>
            <a:ext cx="876300" cy="9085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2A29-99B6-4732-BA09-80AE2919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Maria Alvarez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9CE83-58ED-4E50-8559-6512F55C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Regional Sales Director</a:t>
            </a:r>
          </a:p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</a:t>
            </a:r>
          </a:p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+1 510 555 0142</a:t>
            </a:r>
          </a:p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maria.alvarez@continentalpaytech.com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3C599-30C4-489B-B655-48371B1D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857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DC7FC-36F7-4AE2-946B-C1C84B78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across the Americas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B0DD3-7605-4241-A44E-FEEA1673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continentalpaytech.com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6C435-AF1C-43EB-8EDE-6347A35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363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1f195be2d4ec7"/>
          <a:stretch xmlns:a="http://schemas.openxmlformats.org/drawingml/2006/main"/>
        </p:blipFill>
        <p:spPr>
          <a:xfrm xmlns:a="http://schemas.openxmlformats.org/drawingml/2006/main">
            <a:off x="971550" y="4192516"/>
            <a:ext cx="952500" cy="98756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ADA0B-E631-442F-9C37-35CD500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67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 CONNECT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720FD-96F4-48AD-9824-841F4C36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86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Connecting secure device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8D60E-6D09-42BD-91AD-C90AFD5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52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9E180-728A-4418-8B0A-8430988B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933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91DA1-864A-4BE3-A56E-6B6E6E9F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DEVICE SPLASH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CA2AE-3868-4A9D-B02B-A33C4D38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12786373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B4C54-7825-47AE-804D-77F0862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CB17D0-96DA-432E-A134-F25A12B7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Secure the identity before public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EDC12-3A7A-4DEA-A2C1-1BD71C1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BD073-74BB-473E-AD84-A276F53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14D82-CBE5-4D58-B458-E5596DCA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C50DA-33A5-46AA-90BB-DE6A7262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3A9EF-31EE-485A-92C4-C13C2A40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Acquire continentalpaytech.com as primary and continentalpay.tech as a defensive redirect.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2A05E-6EBB-4428-A14F-236A7A0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612B4-548F-41A2-87F2-56E910F4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3732-7BD5-440A-9E34-054B1DC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Complete California entity, USPTO and international trademark screening.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B6DA7-6E6B-41F5-8870-54258A38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44980-2717-4DC4-92F6-15897E3B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C9ADD-89FB-4890-869A-966B1303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Convert the concept mark into a production vector and test accessibility.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B6C08-514A-450A-B1AF-E91DF6E7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5C59D-0D6B-4005-8810-AC708AD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81126-BC11-4E6C-8692-203015C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Standardize email, proposals, website, device screens and partner materials.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F8C6D-5D29-465C-943A-BA1A2C7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363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FD81F-CAA1-4A04-B424-1B2B14DD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Clearance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36EB9-BCBD-437F-8225-40FCE32F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 California company named Continental Payment Solutions appears in Euronet's subsidiary list. Counsel should assess similarity risk before filing or spending on launch.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95B83-E9A9-4168-A5DA-E7173B0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DRAFT 0.1</a:t>
            </a:r>
          </a:p>
        </p:txBody>
      </p:sp>
    </p:spTree>
    <p:extLst>
      <p:ext uri="{BB962C8B-B14F-4D97-AF65-F5344CB8AC3E}">
        <p14:creationId xmlns:p14="http://schemas.microsoft.com/office/powerpoint/2010/main" val="1164481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d5a8d10594429"/>
          <a:stretch xmlns:a="http://schemas.openxmlformats.org/drawingml/2006/main"/>
        </p:blipFill>
        <p:spPr>
          <a:xfrm xmlns:a="http://schemas.openxmlformats.org/drawingml/2006/main">
            <a:off x="4762500" y="884354"/>
            <a:ext cx="2667000" cy="276519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1334E-E7D7-4AE0-A85D-5179304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 across the Americas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9BFC1-B664-4B02-A01C-707C4E3A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continentalpaytech.com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FF6A9-C425-4374-8218-C9EFF633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81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A6B4-6677-40E6-9B33-E43C3815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150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TECHNOLOGIES, INC.</a:t>
            </a:r>
          </a:p>
        </p:txBody>
      </p:sp>
    </p:spTree>
    <p:extLst>
      <p:ext uri="{BB962C8B-B14F-4D97-AF65-F5344CB8AC3E}">
        <p14:creationId xmlns:p14="http://schemas.microsoft.com/office/powerpoint/2010/main" val="999435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2026-08-11T04:06:45.6760000Z</dcterms:created>
  <dcterms:modified xsi:type="dcterms:W3CDTF">2026-08-11T04:06:45.6760000Z</dcterms:modified>
</coreProperties>
</file>